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914400"/>
            <a:ext cx="3840480" cy="365760"/>
          </a:xfrm>
          <a:prstGeom prst="rect">
            <a:avLst/>
          </a:prstGeom>
          <a:noFill/>
        </p:spPr>
        <p:txBody>
          <a:bodyPr wrap="square" anchor="ctr">
            <a:spAutoFit/>
          </a:bodyPr>
          <a:lstStyle/>
          <a:p>
            <a:pPr algn="l">
              <a:defRPr sz="1200" b="1">
                <a:solidFill>
                  <a:srgbClr val="ADCDEF"/>
                </a:solidFill>
                <a:latin typeface="Aptos"/>
              </a:defRPr>
            </a:pPr>
            <a:r>
              <a:t>AI + MACHINE LEARNING</a:t>
            </a:r>
          </a:p>
        </p:txBody>
      </p:sp>
      <p:sp>
        <p:nvSpPr>
          <p:cNvPr id="4" name="TextBox 3"/>
          <p:cNvSpPr txBox="1"/>
          <p:nvPr/>
        </p:nvSpPr>
        <p:spPr>
          <a:xfrm>
            <a:off x="777240" y="1508760"/>
            <a:ext cx="8961120" cy="1371600"/>
          </a:xfrm>
          <a:prstGeom prst="rect">
            <a:avLst/>
          </a:prstGeom>
          <a:noFill/>
        </p:spPr>
        <p:txBody>
          <a:bodyPr wrap="square" anchor="ctr">
            <a:spAutoFit/>
          </a:bodyPr>
          <a:lstStyle/>
          <a:p>
            <a:pPr algn="l">
              <a:defRPr sz="3800" b="1">
                <a:solidFill>
                  <a:srgbClr val="FFFFFF"/>
                </a:solidFill>
                <a:latin typeface="Aptos Display"/>
              </a:defRPr>
            </a:pPr>
            <a:r>
              <a:t>From everyday examples</a:t>
            </a:r>
            <a:br/>
            <a:r>
              <a:t>to your first ML concepts</a:t>
            </a:r>
          </a:p>
        </p:txBody>
      </p:sp>
      <p:sp>
        <p:nvSpPr>
          <p:cNvPr id="5" name="TextBox 4"/>
          <p:cNvSpPr txBox="1"/>
          <p:nvPr/>
        </p:nvSpPr>
        <p:spPr>
          <a:xfrm>
            <a:off x="822960" y="3154680"/>
            <a:ext cx="8046720" cy="457200"/>
          </a:xfrm>
          <a:prstGeom prst="rect">
            <a:avLst/>
          </a:prstGeom>
          <a:noFill/>
        </p:spPr>
        <p:txBody>
          <a:bodyPr wrap="square" anchor="ctr">
            <a:spAutoFit/>
          </a:bodyPr>
          <a:lstStyle/>
          <a:p>
            <a:pPr algn="l">
              <a:defRPr sz="1800" b="0">
                <a:solidFill>
                  <a:srgbClr val="DCE4F0"/>
                </a:solidFill>
                <a:latin typeface="Aptos"/>
              </a:defRPr>
            </a:pPr>
            <a:r>
              <a:t>Interactive classroom • Theory • Real-world applications</a:t>
            </a:r>
          </a:p>
        </p:txBody>
      </p:sp>
      <p:sp>
        <p:nvSpPr>
          <p:cNvPr id="6" name="Rounded Rectangle 5"/>
          <p:cNvSpPr/>
          <p:nvPr/>
        </p:nvSpPr>
        <p:spPr>
          <a:xfrm>
            <a:off x="612648" y="4251960"/>
            <a:ext cx="2062886" cy="786384"/>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 y="4361688"/>
            <a:ext cx="1989734" cy="566928"/>
          </a:xfrm>
          <a:prstGeom prst="rect">
            <a:avLst/>
          </a:prstGeom>
          <a:noFill/>
        </p:spPr>
        <p:txBody>
          <a:bodyPr wrap="square" anchor="ctr">
            <a:spAutoFit/>
          </a:bodyPr>
          <a:lstStyle/>
          <a:p>
            <a:pPr algn="ctr">
              <a:defRPr sz="1400" b="1">
                <a:solidFill>
                  <a:srgbClr val="FFFFFF"/>
                </a:solidFill>
                <a:latin typeface="Aptos"/>
              </a:defRPr>
            </a:pPr>
            <a:r>
              <a:t>AI</a:t>
            </a:r>
          </a:p>
        </p:txBody>
      </p:sp>
      <p:sp>
        <p:nvSpPr>
          <p:cNvPr id="8" name="Rounded Rectangle 7"/>
          <p:cNvSpPr/>
          <p:nvPr/>
        </p:nvSpPr>
        <p:spPr>
          <a:xfrm>
            <a:off x="2840126" y="4251960"/>
            <a:ext cx="2062886" cy="786384"/>
          </a:xfrm>
          <a:prstGeom prst="roundRect">
            <a:avLst/>
          </a:prstGeom>
          <a:solidFill>
            <a:srgbClr val="2089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76702" y="4361688"/>
            <a:ext cx="1989734" cy="566928"/>
          </a:xfrm>
          <a:prstGeom prst="rect">
            <a:avLst/>
          </a:prstGeom>
          <a:noFill/>
        </p:spPr>
        <p:txBody>
          <a:bodyPr wrap="square" anchor="ctr">
            <a:spAutoFit/>
          </a:bodyPr>
          <a:lstStyle/>
          <a:p>
            <a:pPr algn="ctr">
              <a:defRPr sz="1400" b="1">
                <a:solidFill>
                  <a:srgbClr val="FFFFFF"/>
                </a:solidFill>
                <a:latin typeface="Aptos"/>
              </a:defRPr>
            </a:pPr>
            <a:r>
              <a:t>ML</a:t>
            </a:r>
          </a:p>
        </p:txBody>
      </p:sp>
      <p:sp>
        <p:nvSpPr>
          <p:cNvPr id="10" name="Rounded Rectangle 9"/>
          <p:cNvSpPr/>
          <p:nvPr/>
        </p:nvSpPr>
        <p:spPr>
          <a:xfrm>
            <a:off x="5067604" y="4251960"/>
            <a:ext cx="2062886" cy="786384"/>
          </a:xfrm>
          <a:prstGeom prst="roundRect">
            <a:avLst/>
          </a:prstGeom>
          <a:solidFill>
            <a:srgbClr val="E284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04180" y="4361688"/>
            <a:ext cx="1989734" cy="566928"/>
          </a:xfrm>
          <a:prstGeom prst="rect">
            <a:avLst/>
          </a:prstGeom>
          <a:noFill/>
        </p:spPr>
        <p:txBody>
          <a:bodyPr wrap="square" anchor="ctr">
            <a:spAutoFit/>
          </a:bodyPr>
          <a:lstStyle/>
          <a:p>
            <a:pPr algn="ctr">
              <a:defRPr sz="1400" b="1">
                <a:solidFill>
                  <a:srgbClr val="FFFFFF"/>
                </a:solidFill>
                <a:latin typeface="Aptos"/>
              </a:defRPr>
            </a:pPr>
            <a:r>
              <a:t>Data</a:t>
            </a:r>
          </a:p>
        </p:txBody>
      </p:sp>
      <p:sp>
        <p:nvSpPr>
          <p:cNvPr id="12" name="Rounded Rectangle 11"/>
          <p:cNvSpPr/>
          <p:nvPr/>
        </p:nvSpPr>
        <p:spPr>
          <a:xfrm>
            <a:off x="7295083" y="4251960"/>
            <a:ext cx="2062886" cy="786384"/>
          </a:xfrm>
          <a:prstGeom prst="roundRect">
            <a:avLst/>
          </a:prstGeom>
          <a:solidFill>
            <a:srgbClr val="7153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31659" y="4361688"/>
            <a:ext cx="1989734" cy="566928"/>
          </a:xfrm>
          <a:prstGeom prst="rect">
            <a:avLst/>
          </a:prstGeom>
          <a:noFill/>
        </p:spPr>
        <p:txBody>
          <a:bodyPr wrap="square" anchor="ctr">
            <a:spAutoFit/>
          </a:bodyPr>
          <a:lstStyle/>
          <a:p>
            <a:pPr algn="ctr">
              <a:defRPr sz="1400" b="1">
                <a:solidFill>
                  <a:srgbClr val="FFFFFF"/>
                </a:solidFill>
                <a:latin typeface="Aptos"/>
              </a:defRPr>
            </a:pPr>
            <a:r>
              <a:t>Model</a:t>
            </a:r>
          </a:p>
        </p:txBody>
      </p:sp>
      <p:sp>
        <p:nvSpPr>
          <p:cNvPr id="14" name="Rounded Rectangle 13"/>
          <p:cNvSpPr/>
          <p:nvPr/>
        </p:nvSpPr>
        <p:spPr>
          <a:xfrm>
            <a:off x="9522561" y="4251960"/>
            <a:ext cx="2062886" cy="786384"/>
          </a:xfrm>
          <a:prstGeom prst="roundRect">
            <a:avLst/>
          </a:prstGeom>
          <a:solidFill>
            <a:srgbClr val="378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59137" y="4361688"/>
            <a:ext cx="1989734" cy="566928"/>
          </a:xfrm>
          <a:prstGeom prst="rect">
            <a:avLst/>
          </a:prstGeom>
          <a:noFill/>
        </p:spPr>
        <p:txBody>
          <a:bodyPr wrap="square" anchor="ctr">
            <a:spAutoFit/>
          </a:bodyPr>
          <a:lstStyle/>
          <a:p>
            <a:pPr algn="ctr">
              <a:defRPr sz="1400" b="1">
                <a:solidFill>
                  <a:srgbClr val="FFFFFF"/>
                </a:solidFill>
                <a:latin typeface="Aptos"/>
              </a:defRPr>
            </a:pPr>
            <a:r>
              <a:t>Prediction</a:t>
            </a:r>
          </a:p>
        </p:txBody>
      </p:sp>
      <p:sp>
        <p:nvSpPr>
          <p:cNvPr id="16" name="TextBox 15"/>
          <p:cNvSpPr txBox="1"/>
          <p:nvPr/>
        </p:nvSpPr>
        <p:spPr>
          <a:xfrm>
            <a:off x="822960" y="6080760"/>
            <a:ext cx="1828800" cy="274320"/>
          </a:xfrm>
          <a:prstGeom prst="rect">
            <a:avLst/>
          </a:prstGeom>
          <a:noFill/>
        </p:spPr>
        <p:txBody>
          <a:bodyPr wrap="square" anchor="ctr">
            <a:spAutoFit/>
          </a:bodyPr>
          <a:lstStyle/>
          <a:p>
            <a:pPr algn="l">
              <a:defRPr sz="1000" b="0">
                <a:solidFill>
                  <a:srgbClr val="BEC8D7"/>
                </a:solidFill>
                <a:latin typeface="Aptos"/>
              </a:defRPr>
            </a:pPr>
            <a:r>
              <a:t>Instructor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256032"/>
            <a:ext cx="1417320" cy="384048"/>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265176"/>
            <a:ext cx="1362456" cy="347472"/>
          </a:xfrm>
          <a:prstGeom prst="rect">
            <a:avLst/>
          </a:prstGeom>
          <a:noFill/>
        </p:spPr>
        <p:txBody>
          <a:bodyPr wrap="square" anchor="ctr">
            <a:spAutoFit/>
          </a:bodyPr>
          <a:lstStyle/>
          <a:p>
            <a:pPr algn="ctr">
              <a:defRPr sz="1000" b="1">
                <a:solidFill>
                  <a:srgbClr val="FFFFFF"/>
                </a:solidFill>
                <a:latin typeface="Aptos"/>
              </a:defRPr>
            </a:pPr>
            <a:r>
              <a:t>ROADMAP</a:t>
            </a:r>
          </a:p>
        </p:txBody>
      </p:sp>
      <p:sp>
        <p:nvSpPr>
          <p:cNvPr id="5" name="TextBox 4"/>
          <p:cNvSpPr txBox="1"/>
          <p:nvPr/>
        </p:nvSpPr>
        <p:spPr>
          <a:xfrm>
            <a:off x="594360" y="749808"/>
            <a:ext cx="10972800" cy="621792"/>
          </a:xfrm>
          <a:prstGeom prst="rect">
            <a:avLst/>
          </a:prstGeom>
          <a:noFill/>
        </p:spPr>
        <p:txBody>
          <a:bodyPr wrap="square" anchor="ctr">
            <a:spAutoFit/>
          </a:bodyPr>
          <a:lstStyle/>
          <a:p>
            <a:pPr algn="l">
              <a:defRPr sz="2900" b="1">
                <a:solidFill>
                  <a:srgbClr val="1B2B4B"/>
                </a:solidFill>
                <a:latin typeface="Aptos Display"/>
              </a:defRPr>
            </a:pPr>
            <a:r>
              <a:t>Today’s learning journey</a:t>
            </a:r>
          </a:p>
        </p:txBody>
      </p:sp>
      <p:sp>
        <p:nvSpPr>
          <p:cNvPr id="6" name="TextBox 5"/>
          <p:cNvSpPr txBox="1"/>
          <p:nvPr/>
        </p:nvSpPr>
        <p:spPr>
          <a:xfrm>
            <a:off x="621792" y="1353312"/>
            <a:ext cx="10789920" cy="384048"/>
          </a:xfrm>
          <a:prstGeom prst="rect">
            <a:avLst/>
          </a:prstGeom>
          <a:noFill/>
        </p:spPr>
        <p:txBody>
          <a:bodyPr wrap="square" anchor="ctr">
            <a:spAutoFit/>
          </a:bodyPr>
          <a:lstStyle/>
          <a:p>
            <a:pPr algn="l">
              <a:defRPr sz="1300" b="0">
                <a:solidFill>
                  <a:srgbClr val="69707C"/>
                </a:solidFill>
                <a:latin typeface="Aptos"/>
              </a:defRPr>
            </a:pPr>
            <a:r>
              <a:t>Concept → definition → examples → interaction → application.</a:t>
            </a:r>
          </a:p>
        </p:txBody>
      </p:sp>
      <p:sp>
        <p:nvSpPr>
          <p:cNvPr id="7" name="TextBox 6"/>
          <p:cNvSpPr txBox="1"/>
          <p:nvPr/>
        </p:nvSpPr>
        <p:spPr>
          <a:xfrm>
            <a:off x="11155680" y="292608"/>
            <a:ext cx="457200" cy="274320"/>
          </a:xfrm>
          <a:prstGeom prst="rect">
            <a:avLst/>
          </a:prstGeom>
          <a:noFill/>
        </p:spPr>
        <p:txBody>
          <a:bodyPr wrap="square" anchor="ctr">
            <a:spAutoFit/>
          </a:bodyPr>
          <a:lstStyle/>
          <a:p>
            <a:pPr algn="r">
              <a:defRPr sz="900" b="1">
                <a:solidFill>
                  <a:srgbClr val="69707C"/>
                </a:solidFill>
                <a:latin typeface="Aptos"/>
              </a:defRPr>
            </a:pPr>
            <a:r>
              <a:t>02</a:t>
            </a:r>
          </a:p>
        </p:txBody>
      </p:sp>
      <p:sp>
        <p:nvSpPr>
          <p:cNvPr id="8" name="Rounded Rectangle 7"/>
          <p:cNvSpPr/>
          <p:nvPr/>
        </p:nvSpPr>
        <p:spPr>
          <a:xfrm>
            <a:off x="640080" y="1965960"/>
            <a:ext cx="3429000" cy="1188720"/>
          </a:xfrm>
          <a:prstGeom prst="roundRect">
            <a:avLst/>
          </a:prstGeom>
          <a:solidFill>
            <a:srgbClr val="FFFFFF"/>
          </a:solidFill>
          <a:ln w="15240">
            <a:solidFill>
              <a:srgbClr val="1B2B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093976"/>
            <a:ext cx="3099816" cy="365760"/>
          </a:xfrm>
          <a:prstGeom prst="rect">
            <a:avLst/>
          </a:prstGeom>
          <a:noFill/>
        </p:spPr>
        <p:txBody>
          <a:bodyPr wrap="square" anchor="ctr">
            <a:spAutoFit/>
          </a:bodyPr>
          <a:lstStyle/>
          <a:p>
            <a:pPr algn="l">
              <a:defRPr sz="1600" b="1">
                <a:solidFill>
                  <a:srgbClr val="1B2B4B"/>
                </a:solidFill>
                <a:latin typeface="Aptos"/>
              </a:defRPr>
            </a:pPr>
            <a:r>
              <a:t>01</a:t>
            </a:r>
          </a:p>
        </p:txBody>
      </p:sp>
      <p:sp>
        <p:nvSpPr>
          <p:cNvPr id="10" name="TextBox 9"/>
          <p:cNvSpPr txBox="1"/>
          <p:nvPr/>
        </p:nvSpPr>
        <p:spPr>
          <a:xfrm>
            <a:off x="804671" y="2532888"/>
            <a:ext cx="3099816" cy="475488"/>
          </a:xfrm>
          <a:prstGeom prst="rect">
            <a:avLst/>
          </a:prstGeom>
          <a:noFill/>
        </p:spPr>
        <p:txBody>
          <a:bodyPr wrap="square" anchor="ctr">
            <a:spAutoFit/>
          </a:bodyPr>
          <a:lstStyle/>
          <a:p>
            <a:pPr algn="l">
              <a:defRPr sz="1400" b="0">
                <a:solidFill>
                  <a:srgbClr val="282C34"/>
                </a:solidFill>
                <a:latin typeface="Aptos"/>
              </a:defRPr>
            </a:pPr>
            <a:r>
              <a:t>What is AI?</a:t>
            </a:r>
          </a:p>
        </p:txBody>
      </p:sp>
      <p:sp>
        <p:nvSpPr>
          <p:cNvPr id="11" name="Rounded Rectangle 10"/>
          <p:cNvSpPr/>
          <p:nvPr/>
        </p:nvSpPr>
        <p:spPr>
          <a:xfrm>
            <a:off x="4434840" y="1965960"/>
            <a:ext cx="3429000" cy="1188720"/>
          </a:xfrm>
          <a:prstGeom prst="roundRect">
            <a:avLst/>
          </a:prstGeom>
          <a:solidFill>
            <a:srgbClr val="FFFFFF"/>
          </a:solidFill>
          <a:ln w="15240">
            <a:solidFill>
              <a:srgbClr val="2089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2" y="2093976"/>
            <a:ext cx="3099816" cy="365760"/>
          </a:xfrm>
          <a:prstGeom prst="rect">
            <a:avLst/>
          </a:prstGeom>
          <a:noFill/>
        </p:spPr>
        <p:txBody>
          <a:bodyPr wrap="square" anchor="ctr">
            <a:spAutoFit/>
          </a:bodyPr>
          <a:lstStyle/>
          <a:p>
            <a:pPr algn="l">
              <a:defRPr sz="1600" b="1">
                <a:solidFill>
                  <a:srgbClr val="208984"/>
                </a:solidFill>
                <a:latin typeface="Aptos"/>
              </a:defRPr>
            </a:pPr>
            <a:r>
              <a:t>02</a:t>
            </a:r>
          </a:p>
        </p:txBody>
      </p:sp>
      <p:sp>
        <p:nvSpPr>
          <p:cNvPr id="13" name="TextBox 12"/>
          <p:cNvSpPr txBox="1"/>
          <p:nvPr/>
        </p:nvSpPr>
        <p:spPr>
          <a:xfrm>
            <a:off x="4599432" y="2532888"/>
            <a:ext cx="3099816" cy="475488"/>
          </a:xfrm>
          <a:prstGeom prst="rect">
            <a:avLst/>
          </a:prstGeom>
          <a:noFill/>
        </p:spPr>
        <p:txBody>
          <a:bodyPr wrap="square" anchor="ctr">
            <a:spAutoFit/>
          </a:bodyPr>
          <a:lstStyle/>
          <a:p>
            <a:pPr algn="l">
              <a:defRPr sz="1400" b="0">
                <a:solidFill>
                  <a:srgbClr val="282C34"/>
                </a:solidFill>
                <a:latin typeface="Aptos"/>
              </a:defRPr>
            </a:pPr>
            <a:r>
              <a:t>What is ML?</a:t>
            </a:r>
          </a:p>
        </p:txBody>
      </p:sp>
      <p:sp>
        <p:nvSpPr>
          <p:cNvPr id="14" name="Rounded Rectangle 13"/>
          <p:cNvSpPr/>
          <p:nvPr/>
        </p:nvSpPr>
        <p:spPr>
          <a:xfrm>
            <a:off x="8229600" y="1965960"/>
            <a:ext cx="3429000" cy="1188720"/>
          </a:xfrm>
          <a:prstGeom prst="roundRect">
            <a:avLst/>
          </a:prstGeom>
          <a:solidFill>
            <a:srgbClr val="FFFFFF"/>
          </a:solidFill>
          <a:ln w="15240">
            <a:solidFill>
              <a:srgbClr val="715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94192" y="2093976"/>
            <a:ext cx="3099816" cy="365760"/>
          </a:xfrm>
          <a:prstGeom prst="rect">
            <a:avLst/>
          </a:prstGeom>
          <a:noFill/>
        </p:spPr>
        <p:txBody>
          <a:bodyPr wrap="square" anchor="ctr">
            <a:spAutoFit/>
          </a:bodyPr>
          <a:lstStyle/>
          <a:p>
            <a:pPr algn="l">
              <a:defRPr sz="1600" b="1">
                <a:solidFill>
                  <a:srgbClr val="7153A8"/>
                </a:solidFill>
                <a:latin typeface="Aptos"/>
              </a:defRPr>
            </a:pPr>
            <a:r>
              <a:t>03</a:t>
            </a:r>
          </a:p>
        </p:txBody>
      </p:sp>
      <p:sp>
        <p:nvSpPr>
          <p:cNvPr id="16" name="TextBox 15"/>
          <p:cNvSpPr txBox="1"/>
          <p:nvPr/>
        </p:nvSpPr>
        <p:spPr>
          <a:xfrm>
            <a:off x="8394192" y="2532888"/>
            <a:ext cx="3099816" cy="475488"/>
          </a:xfrm>
          <a:prstGeom prst="rect">
            <a:avLst/>
          </a:prstGeom>
          <a:noFill/>
        </p:spPr>
        <p:txBody>
          <a:bodyPr wrap="square" anchor="ctr">
            <a:spAutoFit/>
          </a:bodyPr>
          <a:lstStyle/>
          <a:p>
            <a:pPr algn="l">
              <a:defRPr sz="1400" b="0">
                <a:solidFill>
                  <a:srgbClr val="282C34"/>
                </a:solidFill>
                <a:latin typeface="Aptos"/>
              </a:defRPr>
            </a:pPr>
            <a:r>
              <a:t>AI vs ML</a:t>
            </a:r>
          </a:p>
        </p:txBody>
      </p:sp>
      <p:sp>
        <p:nvSpPr>
          <p:cNvPr id="17" name="Rounded Rectangle 16"/>
          <p:cNvSpPr/>
          <p:nvPr/>
        </p:nvSpPr>
        <p:spPr>
          <a:xfrm>
            <a:off x="640080" y="3474720"/>
            <a:ext cx="3429000" cy="1188720"/>
          </a:xfrm>
          <a:prstGeom prst="roundRect">
            <a:avLst/>
          </a:prstGeom>
          <a:solidFill>
            <a:srgbClr val="FFFFFF"/>
          </a:solidFill>
          <a:ln w="1524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1" y="3602736"/>
            <a:ext cx="3099816" cy="365760"/>
          </a:xfrm>
          <a:prstGeom prst="rect">
            <a:avLst/>
          </a:prstGeom>
          <a:noFill/>
        </p:spPr>
        <p:txBody>
          <a:bodyPr wrap="square" anchor="ctr">
            <a:spAutoFit/>
          </a:bodyPr>
          <a:lstStyle/>
          <a:p>
            <a:pPr algn="l">
              <a:defRPr sz="1600" b="1">
                <a:solidFill>
                  <a:srgbClr val="2B6CB0"/>
                </a:solidFill>
                <a:latin typeface="Aptos"/>
              </a:defRPr>
            </a:pPr>
            <a:r>
              <a:t>04</a:t>
            </a:r>
          </a:p>
        </p:txBody>
      </p:sp>
      <p:sp>
        <p:nvSpPr>
          <p:cNvPr id="19" name="TextBox 18"/>
          <p:cNvSpPr txBox="1"/>
          <p:nvPr/>
        </p:nvSpPr>
        <p:spPr>
          <a:xfrm>
            <a:off x="804671" y="4041648"/>
            <a:ext cx="3099816" cy="475488"/>
          </a:xfrm>
          <a:prstGeom prst="rect">
            <a:avLst/>
          </a:prstGeom>
          <a:noFill/>
        </p:spPr>
        <p:txBody>
          <a:bodyPr wrap="square" anchor="ctr">
            <a:spAutoFit/>
          </a:bodyPr>
          <a:lstStyle/>
          <a:p>
            <a:pPr algn="l">
              <a:defRPr sz="1400" b="0">
                <a:solidFill>
                  <a:srgbClr val="282C34"/>
                </a:solidFill>
                <a:latin typeface="Aptos"/>
              </a:defRPr>
            </a:pPr>
            <a:r>
              <a:t>Types of ML</a:t>
            </a:r>
          </a:p>
        </p:txBody>
      </p:sp>
      <p:sp>
        <p:nvSpPr>
          <p:cNvPr id="20" name="Rounded Rectangle 19"/>
          <p:cNvSpPr/>
          <p:nvPr/>
        </p:nvSpPr>
        <p:spPr>
          <a:xfrm>
            <a:off x="4434840" y="3474720"/>
            <a:ext cx="3429000" cy="1188720"/>
          </a:xfrm>
          <a:prstGeom prst="roundRect">
            <a:avLst/>
          </a:prstGeom>
          <a:solidFill>
            <a:srgbClr val="FFFFFF"/>
          </a:solidFill>
          <a:ln w="15240">
            <a:solidFill>
              <a:srgbClr val="E28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99432" y="3602736"/>
            <a:ext cx="3099816" cy="365760"/>
          </a:xfrm>
          <a:prstGeom prst="rect">
            <a:avLst/>
          </a:prstGeom>
          <a:noFill/>
        </p:spPr>
        <p:txBody>
          <a:bodyPr wrap="square" anchor="ctr">
            <a:spAutoFit/>
          </a:bodyPr>
          <a:lstStyle/>
          <a:p>
            <a:pPr algn="l">
              <a:defRPr sz="1600" b="1">
                <a:solidFill>
                  <a:srgbClr val="E28431"/>
                </a:solidFill>
                <a:latin typeface="Aptos"/>
              </a:defRPr>
            </a:pPr>
            <a:r>
              <a:t>05</a:t>
            </a:r>
          </a:p>
        </p:txBody>
      </p:sp>
      <p:sp>
        <p:nvSpPr>
          <p:cNvPr id="22" name="TextBox 21"/>
          <p:cNvSpPr txBox="1"/>
          <p:nvPr/>
        </p:nvSpPr>
        <p:spPr>
          <a:xfrm>
            <a:off x="4599432" y="4041648"/>
            <a:ext cx="3099816" cy="475488"/>
          </a:xfrm>
          <a:prstGeom prst="rect">
            <a:avLst/>
          </a:prstGeom>
          <a:noFill/>
        </p:spPr>
        <p:txBody>
          <a:bodyPr wrap="square" anchor="ctr">
            <a:spAutoFit/>
          </a:bodyPr>
          <a:lstStyle/>
          <a:p>
            <a:pPr algn="l">
              <a:defRPr sz="1400" b="0">
                <a:solidFill>
                  <a:srgbClr val="282C34"/>
                </a:solidFill>
                <a:latin typeface="Aptos"/>
              </a:defRPr>
            </a:pPr>
            <a:r>
              <a:t>Classification vs Regression</a:t>
            </a:r>
          </a:p>
        </p:txBody>
      </p:sp>
      <p:sp>
        <p:nvSpPr>
          <p:cNvPr id="23" name="Rounded Rectangle 22"/>
          <p:cNvSpPr/>
          <p:nvPr/>
        </p:nvSpPr>
        <p:spPr>
          <a:xfrm>
            <a:off x="8229600" y="3474720"/>
            <a:ext cx="3429000" cy="1188720"/>
          </a:xfrm>
          <a:prstGeom prst="roundRect">
            <a:avLst/>
          </a:prstGeom>
          <a:solidFill>
            <a:srgbClr val="FFFFFF"/>
          </a:solidFill>
          <a:ln w="15240">
            <a:solidFill>
              <a:srgbClr val="378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94192" y="3602736"/>
            <a:ext cx="3099816" cy="365760"/>
          </a:xfrm>
          <a:prstGeom prst="rect">
            <a:avLst/>
          </a:prstGeom>
          <a:noFill/>
        </p:spPr>
        <p:txBody>
          <a:bodyPr wrap="square" anchor="ctr">
            <a:spAutoFit/>
          </a:bodyPr>
          <a:lstStyle/>
          <a:p>
            <a:pPr algn="l">
              <a:defRPr sz="1600" b="1">
                <a:solidFill>
                  <a:srgbClr val="37895B"/>
                </a:solidFill>
                <a:latin typeface="Aptos"/>
              </a:defRPr>
            </a:pPr>
            <a:r>
              <a:t>06</a:t>
            </a:r>
          </a:p>
        </p:txBody>
      </p:sp>
      <p:sp>
        <p:nvSpPr>
          <p:cNvPr id="25" name="TextBox 24"/>
          <p:cNvSpPr txBox="1"/>
          <p:nvPr/>
        </p:nvSpPr>
        <p:spPr>
          <a:xfrm>
            <a:off x="8394192" y="4041648"/>
            <a:ext cx="3099816" cy="475488"/>
          </a:xfrm>
          <a:prstGeom prst="rect">
            <a:avLst/>
          </a:prstGeom>
          <a:noFill/>
        </p:spPr>
        <p:txBody>
          <a:bodyPr wrap="square" anchor="ctr">
            <a:spAutoFit/>
          </a:bodyPr>
          <a:lstStyle/>
          <a:p>
            <a:pPr algn="l">
              <a:defRPr sz="1400" b="0">
                <a:solidFill>
                  <a:srgbClr val="282C34"/>
                </a:solidFill>
                <a:latin typeface="Aptos"/>
              </a:defRPr>
            </a:pPr>
            <a:r>
              <a:t>Everyday applications</a:t>
            </a:r>
          </a:p>
        </p:txBody>
      </p:sp>
      <p:sp>
        <p:nvSpPr>
          <p:cNvPr id="26" name="TextBox 25"/>
          <p:cNvSpPr txBox="1"/>
          <p:nvPr/>
        </p:nvSpPr>
        <p:spPr>
          <a:xfrm>
            <a:off x="594360" y="6446520"/>
            <a:ext cx="5486400" cy="228600"/>
          </a:xfrm>
          <a:prstGeom prst="rect">
            <a:avLst/>
          </a:prstGeom>
          <a:noFill/>
        </p:spPr>
        <p:txBody>
          <a:bodyPr wrap="square" anchor="ctr">
            <a:spAutoFit/>
          </a:bodyPr>
          <a:lstStyle/>
          <a:p>
            <a:pPr algn="l">
              <a:defRPr sz="800" b="0">
                <a:solidFill>
                  <a:srgbClr val="69707C"/>
                </a:solidFill>
                <a:latin typeface="Aptos"/>
              </a:defRPr>
            </a:pPr>
            <a:r>
              <a:t>AI &amp; Machine Learning • Classroom Deck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256032"/>
            <a:ext cx="1417320" cy="384048"/>
          </a:xfrm>
          <a:prstGeom prst="roundRect">
            <a:avLst/>
          </a:prstGeom>
          <a:solidFill>
            <a:srgbClr val="E284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265176"/>
            <a:ext cx="1362456" cy="347472"/>
          </a:xfrm>
          <a:prstGeom prst="rect">
            <a:avLst/>
          </a:prstGeom>
          <a:noFill/>
        </p:spPr>
        <p:txBody>
          <a:bodyPr wrap="square" anchor="ctr">
            <a:spAutoFit/>
          </a:bodyPr>
          <a:lstStyle/>
          <a:p>
            <a:pPr algn="ctr">
              <a:defRPr sz="1000" b="1">
                <a:solidFill>
                  <a:srgbClr val="FFFFFF"/>
                </a:solidFill>
                <a:latin typeface="Aptos"/>
              </a:defRPr>
            </a:pPr>
            <a:r>
              <a:t>WARM-UP</a:t>
            </a:r>
          </a:p>
        </p:txBody>
      </p:sp>
      <p:sp>
        <p:nvSpPr>
          <p:cNvPr id="5" name="TextBox 4"/>
          <p:cNvSpPr txBox="1"/>
          <p:nvPr/>
        </p:nvSpPr>
        <p:spPr>
          <a:xfrm>
            <a:off x="594360" y="749808"/>
            <a:ext cx="10972800" cy="621792"/>
          </a:xfrm>
          <a:prstGeom prst="rect">
            <a:avLst/>
          </a:prstGeom>
          <a:noFill/>
        </p:spPr>
        <p:txBody>
          <a:bodyPr wrap="square" anchor="ctr">
            <a:spAutoFit/>
          </a:bodyPr>
          <a:lstStyle/>
          <a:p>
            <a:pPr algn="l">
              <a:defRPr sz="2900" b="1">
                <a:solidFill>
                  <a:srgbClr val="1B2B4B"/>
                </a:solidFill>
                <a:latin typeface="Aptos Display"/>
              </a:defRPr>
            </a:pPr>
            <a:r>
              <a:t>Where is AI already around you?</a:t>
            </a:r>
          </a:p>
        </p:txBody>
      </p:sp>
      <p:sp>
        <p:nvSpPr>
          <p:cNvPr id="6" name="TextBox 5"/>
          <p:cNvSpPr txBox="1"/>
          <p:nvPr/>
        </p:nvSpPr>
        <p:spPr>
          <a:xfrm>
            <a:off x="621792" y="1353312"/>
            <a:ext cx="10789920" cy="384048"/>
          </a:xfrm>
          <a:prstGeom prst="rect">
            <a:avLst/>
          </a:prstGeom>
          <a:noFill/>
        </p:spPr>
        <p:txBody>
          <a:bodyPr wrap="square" anchor="ctr">
            <a:spAutoFit/>
          </a:bodyPr>
          <a:lstStyle/>
          <a:p>
            <a:pPr algn="l">
              <a:defRPr sz="1300" b="0">
                <a:solidFill>
                  <a:srgbClr val="69707C"/>
                </a:solidFill>
                <a:latin typeface="Aptos"/>
              </a:defRPr>
            </a:pPr>
            <a:r>
              <a:t>Don’t define it yet. Identify examples first.</a:t>
            </a:r>
          </a:p>
        </p:txBody>
      </p:sp>
      <p:sp>
        <p:nvSpPr>
          <p:cNvPr id="7" name="TextBox 6"/>
          <p:cNvSpPr txBox="1"/>
          <p:nvPr/>
        </p:nvSpPr>
        <p:spPr>
          <a:xfrm>
            <a:off x="11155680" y="292608"/>
            <a:ext cx="457200" cy="274320"/>
          </a:xfrm>
          <a:prstGeom prst="rect">
            <a:avLst/>
          </a:prstGeom>
          <a:noFill/>
        </p:spPr>
        <p:txBody>
          <a:bodyPr wrap="square" anchor="ctr">
            <a:spAutoFit/>
          </a:bodyPr>
          <a:lstStyle/>
          <a:p>
            <a:pPr algn="r">
              <a:defRPr sz="900" b="1">
                <a:solidFill>
                  <a:srgbClr val="69707C"/>
                </a:solidFill>
                <a:latin typeface="Aptos"/>
              </a:defRPr>
            </a:pPr>
            <a:r>
              <a:t>03</a:t>
            </a:r>
          </a:p>
        </p:txBody>
      </p:sp>
      <p:sp>
        <p:nvSpPr>
          <p:cNvPr id="8" name="TextBox 7"/>
          <p:cNvSpPr txBox="1"/>
          <p:nvPr/>
        </p:nvSpPr>
        <p:spPr>
          <a:xfrm>
            <a:off x="731520" y="1691640"/>
            <a:ext cx="2377440" cy="320040"/>
          </a:xfrm>
          <a:prstGeom prst="rect">
            <a:avLst/>
          </a:prstGeom>
          <a:noFill/>
        </p:spPr>
        <p:txBody>
          <a:bodyPr wrap="square" anchor="ctr">
            <a:spAutoFit/>
          </a:bodyPr>
          <a:lstStyle/>
          <a:p>
            <a:pPr algn="l">
              <a:defRPr sz="1100" b="1">
                <a:solidFill>
                  <a:srgbClr val="E28431"/>
                </a:solidFill>
                <a:latin typeface="Aptos"/>
              </a:defRPr>
            </a:pPr>
            <a:r>
              <a:t>THINK • PAIR • SHARE</a:t>
            </a:r>
          </a:p>
        </p:txBody>
      </p:sp>
      <p:sp>
        <p:nvSpPr>
          <p:cNvPr id="9" name="TextBox 8"/>
          <p:cNvSpPr txBox="1"/>
          <p:nvPr/>
        </p:nvSpPr>
        <p:spPr>
          <a:xfrm>
            <a:off x="731520" y="2103120"/>
            <a:ext cx="10607040" cy="685800"/>
          </a:xfrm>
          <a:prstGeom prst="rect">
            <a:avLst/>
          </a:prstGeom>
          <a:noFill/>
        </p:spPr>
        <p:txBody>
          <a:bodyPr wrap="square" anchor="ctr">
            <a:spAutoFit/>
          </a:bodyPr>
          <a:lstStyle/>
          <a:p>
            <a:pPr algn="l">
              <a:defRPr sz="2200" b="1">
                <a:solidFill>
                  <a:srgbClr val="1B2B4B"/>
                </a:solidFill>
                <a:latin typeface="Aptos"/>
              </a:defRPr>
            </a:pPr>
            <a:r>
              <a:t>Which of these probably uses AI or ML?</a:t>
            </a:r>
          </a:p>
        </p:txBody>
      </p:sp>
      <p:sp>
        <p:nvSpPr>
          <p:cNvPr id="10" name="Rounded Rectangle 9"/>
          <p:cNvSpPr/>
          <p:nvPr/>
        </p:nvSpPr>
        <p:spPr>
          <a:xfrm>
            <a:off x="777240" y="3063240"/>
            <a:ext cx="5257800" cy="749808"/>
          </a:xfrm>
          <a:prstGeom prst="roundRect">
            <a:avLst/>
          </a:prstGeom>
          <a:solidFill>
            <a:srgbClr val="FFFFFF"/>
          </a:solidFill>
          <a:ln w="15240">
            <a:solidFill>
              <a:srgbClr val="E28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3191256"/>
            <a:ext cx="4928616" cy="365760"/>
          </a:xfrm>
          <a:prstGeom prst="rect">
            <a:avLst/>
          </a:prstGeom>
          <a:noFill/>
        </p:spPr>
        <p:txBody>
          <a:bodyPr wrap="square" anchor="ctr">
            <a:spAutoFit/>
          </a:bodyPr>
          <a:lstStyle/>
          <a:p>
            <a:pPr algn="l">
              <a:defRPr sz="1500" b="1">
                <a:solidFill>
                  <a:srgbClr val="E28431"/>
                </a:solidFill>
                <a:latin typeface="Aptos"/>
              </a:defRPr>
            </a:pPr>
            <a:r>
              <a:t>A</a:t>
            </a:r>
          </a:p>
        </p:txBody>
      </p:sp>
      <p:sp>
        <p:nvSpPr>
          <p:cNvPr id="12" name="TextBox 11"/>
          <p:cNvSpPr txBox="1"/>
          <p:nvPr/>
        </p:nvSpPr>
        <p:spPr>
          <a:xfrm>
            <a:off x="941832" y="3630168"/>
            <a:ext cx="4928616" cy="36575"/>
          </a:xfrm>
          <a:prstGeom prst="rect">
            <a:avLst/>
          </a:prstGeom>
          <a:noFill/>
        </p:spPr>
        <p:txBody>
          <a:bodyPr wrap="square" anchor="ctr">
            <a:spAutoFit/>
          </a:bodyPr>
          <a:lstStyle/>
          <a:p>
            <a:pPr algn="l">
              <a:defRPr sz="1200" b="0">
                <a:solidFill>
                  <a:srgbClr val="282C34"/>
                </a:solidFill>
                <a:latin typeface="Aptos"/>
              </a:defRPr>
            </a:pPr>
            <a:r>
              <a:t>YouTube recommends a video</a:t>
            </a:r>
          </a:p>
        </p:txBody>
      </p:sp>
      <p:sp>
        <p:nvSpPr>
          <p:cNvPr id="13" name="Rounded Rectangle 12"/>
          <p:cNvSpPr/>
          <p:nvPr/>
        </p:nvSpPr>
        <p:spPr>
          <a:xfrm>
            <a:off x="6400800" y="3063240"/>
            <a:ext cx="5257800" cy="749808"/>
          </a:xfrm>
          <a:prstGeom prst="roundRect">
            <a:avLst/>
          </a:prstGeom>
          <a:solidFill>
            <a:srgbClr val="FFFFFF"/>
          </a:solidFill>
          <a:ln w="15240">
            <a:solidFill>
              <a:srgbClr val="E28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65392" y="3191256"/>
            <a:ext cx="4928616" cy="365760"/>
          </a:xfrm>
          <a:prstGeom prst="rect">
            <a:avLst/>
          </a:prstGeom>
          <a:noFill/>
        </p:spPr>
        <p:txBody>
          <a:bodyPr wrap="square" anchor="ctr">
            <a:spAutoFit/>
          </a:bodyPr>
          <a:lstStyle/>
          <a:p>
            <a:pPr algn="l">
              <a:defRPr sz="1500" b="1">
                <a:solidFill>
                  <a:srgbClr val="E28431"/>
                </a:solidFill>
                <a:latin typeface="Aptos"/>
              </a:defRPr>
            </a:pPr>
            <a:r>
              <a:t>B</a:t>
            </a:r>
          </a:p>
        </p:txBody>
      </p:sp>
      <p:sp>
        <p:nvSpPr>
          <p:cNvPr id="15" name="TextBox 14"/>
          <p:cNvSpPr txBox="1"/>
          <p:nvPr/>
        </p:nvSpPr>
        <p:spPr>
          <a:xfrm>
            <a:off x="6565392" y="3630168"/>
            <a:ext cx="4928616" cy="36575"/>
          </a:xfrm>
          <a:prstGeom prst="rect">
            <a:avLst/>
          </a:prstGeom>
          <a:noFill/>
        </p:spPr>
        <p:txBody>
          <a:bodyPr wrap="square" anchor="ctr">
            <a:spAutoFit/>
          </a:bodyPr>
          <a:lstStyle/>
          <a:p>
            <a:pPr algn="l">
              <a:defRPr sz="1200" b="0">
                <a:solidFill>
                  <a:srgbClr val="282C34"/>
                </a:solidFill>
                <a:latin typeface="Aptos"/>
              </a:defRPr>
            </a:pPr>
            <a:r>
              <a:t>A calculator computes 25 × 10</a:t>
            </a:r>
          </a:p>
        </p:txBody>
      </p:sp>
      <p:sp>
        <p:nvSpPr>
          <p:cNvPr id="16" name="Rounded Rectangle 15"/>
          <p:cNvSpPr/>
          <p:nvPr/>
        </p:nvSpPr>
        <p:spPr>
          <a:xfrm>
            <a:off x="777240" y="4023360"/>
            <a:ext cx="5257800" cy="749808"/>
          </a:xfrm>
          <a:prstGeom prst="roundRect">
            <a:avLst/>
          </a:prstGeom>
          <a:solidFill>
            <a:srgbClr val="FFFFFF"/>
          </a:solidFill>
          <a:ln w="15240">
            <a:solidFill>
              <a:srgbClr val="E28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1832" y="4151376"/>
            <a:ext cx="4928616" cy="365760"/>
          </a:xfrm>
          <a:prstGeom prst="rect">
            <a:avLst/>
          </a:prstGeom>
          <a:noFill/>
        </p:spPr>
        <p:txBody>
          <a:bodyPr wrap="square" anchor="ctr">
            <a:spAutoFit/>
          </a:bodyPr>
          <a:lstStyle/>
          <a:p>
            <a:pPr algn="l">
              <a:defRPr sz="1500" b="1">
                <a:solidFill>
                  <a:srgbClr val="E28431"/>
                </a:solidFill>
                <a:latin typeface="Aptos"/>
              </a:defRPr>
            </a:pPr>
            <a:r>
              <a:t>C</a:t>
            </a:r>
          </a:p>
        </p:txBody>
      </p:sp>
      <p:sp>
        <p:nvSpPr>
          <p:cNvPr id="18" name="TextBox 17"/>
          <p:cNvSpPr txBox="1"/>
          <p:nvPr/>
        </p:nvSpPr>
        <p:spPr>
          <a:xfrm>
            <a:off x="941832" y="4590288"/>
            <a:ext cx="4928616" cy="36575"/>
          </a:xfrm>
          <a:prstGeom prst="rect">
            <a:avLst/>
          </a:prstGeom>
          <a:noFill/>
        </p:spPr>
        <p:txBody>
          <a:bodyPr wrap="square" anchor="ctr">
            <a:spAutoFit/>
          </a:bodyPr>
          <a:lstStyle/>
          <a:p>
            <a:pPr algn="l">
              <a:defRPr sz="1200" b="0">
                <a:solidFill>
                  <a:srgbClr val="282C34"/>
                </a:solidFill>
                <a:latin typeface="Aptos"/>
              </a:defRPr>
            </a:pPr>
            <a:r>
              <a:t>Phone unlocks using your face</a:t>
            </a:r>
          </a:p>
        </p:txBody>
      </p:sp>
      <p:sp>
        <p:nvSpPr>
          <p:cNvPr id="19" name="Rounded Rectangle 18"/>
          <p:cNvSpPr/>
          <p:nvPr/>
        </p:nvSpPr>
        <p:spPr>
          <a:xfrm>
            <a:off x="6400800" y="4023360"/>
            <a:ext cx="5257800" cy="749808"/>
          </a:xfrm>
          <a:prstGeom prst="roundRect">
            <a:avLst/>
          </a:prstGeom>
          <a:solidFill>
            <a:srgbClr val="FFFFFF"/>
          </a:solidFill>
          <a:ln w="15240">
            <a:solidFill>
              <a:srgbClr val="E28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4151376"/>
            <a:ext cx="4928616" cy="365760"/>
          </a:xfrm>
          <a:prstGeom prst="rect">
            <a:avLst/>
          </a:prstGeom>
          <a:noFill/>
        </p:spPr>
        <p:txBody>
          <a:bodyPr wrap="square" anchor="ctr">
            <a:spAutoFit/>
          </a:bodyPr>
          <a:lstStyle/>
          <a:p>
            <a:pPr algn="l">
              <a:defRPr sz="1500" b="1">
                <a:solidFill>
                  <a:srgbClr val="E28431"/>
                </a:solidFill>
                <a:latin typeface="Aptos"/>
              </a:defRPr>
            </a:pPr>
            <a:r>
              <a:t>D</a:t>
            </a:r>
          </a:p>
        </p:txBody>
      </p:sp>
      <p:sp>
        <p:nvSpPr>
          <p:cNvPr id="21" name="TextBox 20"/>
          <p:cNvSpPr txBox="1"/>
          <p:nvPr/>
        </p:nvSpPr>
        <p:spPr>
          <a:xfrm>
            <a:off x="6565392" y="4590288"/>
            <a:ext cx="4928616" cy="36575"/>
          </a:xfrm>
          <a:prstGeom prst="rect">
            <a:avLst/>
          </a:prstGeom>
          <a:noFill/>
        </p:spPr>
        <p:txBody>
          <a:bodyPr wrap="square" anchor="ctr">
            <a:spAutoFit/>
          </a:bodyPr>
          <a:lstStyle/>
          <a:p>
            <a:pPr algn="l">
              <a:defRPr sz="1200" b="0">
                <a:solidFill>
                  <a:srgbClr val="282C34"/>
                </a:solidFill>
                <a:latin typeface="Aptos"/>
              </a:defRPr>
            </a:pPr>
            <a:r>
              <a:t>An alarm rings at 7 AM</a:t>
            </a:r>
          </a:p>
        </p:txBody>
      </p:sp>
      <p:sp>
        <p:nvSpPr>
          <p:cNvPr id="22" name="TextBox 21"/>
          <p:cNvSpPr txBox="1"/>
          <p:nvPr/>
        </p:nvSpPr>
        <p:spPr>
          <a:xfrm>
            <a:off x="731520" y="5349240"/>
            <a:ext cx="10515600" cy="457200"/>
          </a:xfrm>
          <a:prstGeom prst="rect">
            <a:avLst/>
          </a:prstGeom>
          <a:noFill/>
        </p:spPr>
        <p:txBody>
          <a:bodyPr wrap="square" anchor="ctr">
            <a:spAutoFit/>
          </a:bodyPr>
          <a:lstStyle/>
          <a:p>
            <a:pPr algn="l">
              <a:defRPr sz="1300" b="1">
                <a:solidFill>
                  <a:srgbClr val="69707C"/>
                </a:solidFill>
                <a:latin typeface="Aptos"/>
              </a:defRPr>
            </a:pPr>
            <a:r>
              <a:t>Instructor prompt: Ask students to explain their reasoning.</a:t>
            </a:r>
          </a:p>
        </p:txBody>
      </p:sp>
      <p:sp>
        <p:nvSpPr>
          <p:cNvPr id="23" name="TextBox 22"/>
          <p:cNvSpPr txBox="1"/>
          <p:nvPr/>
        </p:nvSpPr>
        <p:spPr>
          <a:xfrm>
            <a:off x="594360" y="6446520"/>
            <a:ext cx="5486400" cy="228600"/>
          </a:xfrm>
          <a:prstGeom prst="rect">
            <a:avLst/>
          </a:prstGeom>
          <a:noFill/>
        </p:spPr>
        <p:txBody>
          <a:bodyPr wrap="square" anchor="ctr">
            <a:spAutoFit/>
          </a:bodyPr>
          <a:lstStyle/>
          <a:p>
            <a:pPr algn="l">
              <a:defRPr sz="800" b="0">
                <a:solidFill>
                  <a:srgbClr val="69707C"/>
                </a:solidFill>
                <a:latin typeface="Aptos"/>
              </a:defRPr>
            </a:pPr>
            <a:r>
              <a:t>AI &amp; Machine Learning • Classroom Deck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256032"/>
            <a:ext cx="1417320" cy="384048"/>
          </a:xfrm>
          <a:prstGeom prst="roundRect">
            <a:avLst/>
          </a:prstGeom>
          <a:solidFill>
            <a:srgbClr val="1B2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265176"/>
            <a:ext cx="1362456" cy="347472"/>
          </a:xfrm>
          <a:prstGeom prst="rect">
            <a:avLst/>
          </a:prstGeom>
          <a:noFill/>
        </p:spPr>
        <p:txBody>
          <a:bodyPr wrap="square" anchor="ctr">
            <a:spAutoFit/>
          </a:bodyPr>
          <a:lstStyle/>
          <a:p>
            <a:pPr algn="ctr">
              <a:defRPr sz="1000" b="1">
                <a:solidFill>
                  <a:srgbClr val="FFFFFF"/>
                </a:solidFill>
                <a:latin typeface="Aptos"/>
              </a:defRPr>
            </a:pPr>
            <a:r>
              <a:t>THEORY</a:t>
            </a:r>
          </a:p>
        </p:txBody>
      </p:sp>
      <p:sp>
        <p:nvSpPr>
          <p:cNvPr id="5" name="TextBox 4"/>
          <p:cNvSpPr txBox="1"/>
          <p:nvPr/>
        </p:nvSpPr>
        <p:spPr>
          <a:xfrm>
            <a:off x="594360" y="749808"/>
            <a:ext cx="10972800" cy="621792"/>
          </a:xfrm>
          <a:prstGeom prst="rect">
            <a:avLst/>
          </a:prstGeom>
          <a:noFill/>
        </p:spPr>
        <p:txBody>
          <a:bodyPr wrap="square" anchor="ctr">
            <a:spAutoFit/>
          </a:bodyPr>
          <a:lstStyle/>
          <a:p>
            <a:pPr algn="l">
              <a:defRPr sz="2900" b="1">
                <a:solidFill>
                  <a:srgbClr val="1B2B4B"/>
                </a:solidFill>
                <a:latin typeface="Aptos Display"/>
              </a:defRPr>
            </a:pPr>
            <a:r>
              <a:t>What is Artificial Intelligence?</a:t>
            </a:r>
          </a:p>
        </p:txBody>
      </p:sp>
      <p:sp>
        <p:nvSpPr>
          <p:cNvPr id="6" name="TextBox 5"/>
          <p:cNvSpPr txBox="1"/>
          <p:nvPr/>
        </p:nvSpPr>
        <p:spPr>
          <a:xfrm>
            <a:off x="621792" y="1353312"/>
            <a:ext cx="10789920" cy="384048"/>
          </a:xfrm>
          <a:prstGeom prst="rect">
            <a:avLst/>
          </a:prstGeom>
          <a:noFill/>
        </p:spPr>
        <p:txBody>
          <a:bodyPr wrap="square" anchor="ctr">
            <a:spAutoFit/>
          </a:bodyPr>
          <a:lstStyle/>
          <a:p>
            <a:pPr algn="l">
              <a:defRPr sz="1300" b="0">
                <a:solidFill>
                  <a:srgbClr val="69707C"/>
                </a:solidFill>
                <a:latin typeface="Aptos"/>
              </a:defRPr>
            </a:pPr>
            <a:r>
              <a:t>A precise definition first; then we simplify it.</a:t>
            </a:r>
          </a:p>
        </p:txBody>
      </p:sp>
      <p:sp>
        <p:nvSpPr>
          <p:cNvPr id="7" name="TextBox 6"/>
          <p:cNvSpPr txBox="1"/>
          <p:nvPr/>
        </p:nvSpPr>
        <p:spPr>
          <a:xfrm>
            <a:off x="11155680" y="292608"/>
            <a:ext cx="457200" cy="274320"/>
          </a:xfrm>
          <a:prstGeom prst="rect">
            <a:avLst/>
          </a:prstGeom>
          <a:noFill/>
        </p:spPr>
        <p:txBody>
          <a:bodyPr wrap="square" anchor="ctr">
            <a:spAutoFit/>
          </a:bodyPr>
          <a:lstStyle/>
          <a:p>
            <a:pPr algn="r">
              <a:defRPr sz="900" b="1">
                <a:solidFill>
                  <a:srgbClr val="69707C"/>
                </a:solidFill>
                <a:latin typeface="Aptos"/>
              </a:defRPr>
            </a:pPr>
            <a:r>
              <a:t>04</a:t>
            </a:r>
          </a:p>
        </p:txBody>
      </p:sp>
      <p:sp>
        <p:nvSpPr>
          <p:cNvPr id="8" name="Rounded Rectangle 7"/>
          <p:cNvSpPr/>
          <p:nvPr/>
        </p:nvSpPr>
        <p:spPr>
          <a:xfrm>
            <a:off x="685800" y="1828800"/>
            <a:ext cx="6583680" cy="1965960"/>
          </a:xfrm>
          <a:prstGeom prst="roundRect">
            <a:avLst/>
          </a:prstGeom>
          <a:solidFill>
            <a:srgbClr val="E8F0F9"/>
          </a:solidFill>
          <a:ln w="15240">
            <a:solidFill>
              <a:srgbClr val="1B2B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956816"/>
            <a:ext cx="6254496" cy="365760"/>
          </a:xfrm>
          <a:prstGeom prst="rect">
            <a:avLst/>
          </a:prstGeom>
          <a:noFill/>
        </p:spPr>
        <p:txBody>
          <a:bodyPr wrap="square" anchor="ctr">
            <a:spAutoFit/>
          </a:bodyPr>
          <a:lstStyle/>
          <a:p>
            <a:pPr algn="l">
              <a:defRPr sz="1900" b="1">
                <a:solidFill>
                  <a:srgbClr val="1B2B4B"/>
                </a:solidFill>
                <a:latin typeface="Aptos"/>
              </a:defRPr>
            </a:pPr>
            <a:r>
              <a:t>PROPER DEFINITION</a:t>
            </a:r>
          </a:p>
        </p:txBody>
      </p:sp>
      <p:sp>
        <p:nvSpPr>
          <p:cNvPr id="10" name="TextBox 9"/>
          <p:cNvSpPr txBox="1"/>
          <p:nvPr/>
        </p:nvSpPr>
        <p:spPr>
          <a:xfrm>
            <a:off x="850392" y="2395728"/>
            <a:ext cx="6254496" cy="1252728"/>
          </a:xfrm>
          <a:prstGeom prst="rect">
            <a:avLst/>
          </a:prstGeom>
          <a:noFill/>
        </p:spPr>
        <p:txBody>
          <a:bodyPr wrap="square" anchor="ctr">
            <a:spAutoFit/>
          </a:bodyPr>
          <a:lstStyle/>
          <a:p>
            <a:pPr algn="l">
              <a:defRPr sz="1500" b="0">
                <a:solidFill>
                  <a:srgbClr val="282C34"/>
                </a:solidFill>
                <a:latin typeface="Aptos"/>
              </a:defRPr>
            </a:pPr>
            <a:r>
              <a:t>Artificial Intelligence (AI) is the field of computer science concerned with creating systems that can perform tasks that normally require human intelligence, such as learning, reasoning, perception, language understanding, decision-making and problem-solving.</a:t>
            </a:r>
          </a:p>
        </p:txBody>
      </p:sp>
      <p:sp>
        <p:nvSpPr>
          <p:cNvPr id="11" name="Rounded Rectangle 10"/>
          <p:cNvSpPr/>
          <p:nvPr/>
        </p:nvSpPr>
        <p:spPr>
          <a:xfrm>
            <a:off x="7543800" y="1828800"/>
            <a:ext cx="3886200" cy="1965960"/>
          </a:xfrm>
          <a:prstGeom prst="roundRect">
            <a:avLst/>
          </a:prstGeom>
          <a:solidFill>
            <a:srgbClr val="FFFFFF"/>
          </a:solidFill>
          <a:ln w="1524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08392" y="1956816"/>
            <a:ext cx="3557016" cy="365760"/>
          </a:xfrm>
          <a:prstGeom prst="rect">
            <a:avLst/>
          </a:prstGeom>
          <a:noFill/>
        </p:spPr>
        <p:txBody>
          <a:bodyPr wrap="square" anchor="ctr">
            <a:spAutoFit/>
          </a:bodyPr>
          <a:lstStyle/>
          <a:p>
            <a:pPr algn="l">
              <a:defRPr sz="1900" b="1">
                <a:solidFill>
                  <a:srgbClr val="2B6CB0"/>
                </a:solidFill>
                <a:latin typeface="Aptos"/>
              </a:defRPr>
            </a:pPr>
            <a:r>
              <a:t>IN SIMPLE WORDS</a:t>
            </a:r>
          </a:p>
        </p:txBody>
      </p:sp>
      <p:sp>
        <p:nvSpPr>
          <p:cNvPr id="13" name="TextBox 12"/>
          <p:cNvSpPr txBox="1"/>
          <p:nvPr/>
        </p:nvSpPr>
        <p:spPr>
          <a:xfrm>
            <a:off x="7708392" y="2395728"/>
            <a:ext cx="3557016" cy="1252728"/>
          </a:xfrm>
          <a:prstGeom prst="rect">
            <a:avLst/>
          </a:prstGeom>
          <a:noFill/>
        </p:spPr>
        <p:txBody>
          <a:bodyPr wrap="square" anchor="ctr">
            <a:spAutoFit/>
          </a:bodyPr>
          <a:lstStyle/>
          <a:p>
            <a:pPr algn="l">
              <a:defRPr sz="1700" b="0">
                <a:solidFill>
                  <a:srgbClr val="282C34"/>
                </a:solidFill>
                <a:latin typeface="Aptos"/>
              </a:defRPr>
            </a:pPr>
            <a:r>
              <a:t>AI = making machines capable of performing intelligent tasks.</a:t>
            </a:r>
          </a:p>
        </p:txBody>
      </p:sp>
      <p:sp>
        <p:nvSpPr>
          <p:cNvPr id="14" name="Rounded Rectangle 13"/>
          <p:cNvSpPr/>
          <p:nvPr/>
        </p:nvSpPr>
        <p:spPr>
          <a:xfrm>
            <a:off x="685800" y="4160520"/>
            <a:ext cx="3383280" cy="1417320"/>
          </a:xfrm>
          <a:prstGeom prst="roundRect">
            <a:avLst/>
          </a:prstGeom>
          <a:solidFill>
            <a:srgbClr val="E7F6F4"/>
          </a:solidFill>
          <a:ln w="15240">
            <a:solidFill>
              <a:srgbClr val="2089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4288536"/>
            <a:ext cx="3054096" cy="365760"/>
          </a:xfrm>
          <a:prstGeom prst="rect">
            <a:avLst/>
          </a:prstGeom>
          <a:noFill/>
        </p:spPr>
        <p:txBody>
          <a:bodyPr wrap="square" anchor="ctr">
            <a:spAutoFit/>
          </a:bodyPr>
          <a:lstStyle/>
          <a:p>
            <a:pPr algn="l">
              <a:defRPr sz="1600" b="1">
                <a:solidFill>
                  <a:srgbClr val="208984"/>
                </a:solidFill>
                <a:latin typeface="Aptos"/>
              </a:defRPr>
            </a:pPr>
            <a:r>
              <a:t>PERCEPTION</a:t>
            </a:r>
          </a:p>
        </p:txBody>
      </p:sp>
      <p:sp>
        <p:nvSpPr>
          <p:cNvPr id="16" name="TextBox 15"/>
          <p:cNvSpPr txBox="1"/>
          <p:nvPr/>
        </p:nvSpPr>
        <p:spPr>
          <a:xfrm>
            <a:off x="850392" y="4727448"/>
            <a:ext cx="3054096" cy="704088"/>
          </a:xfrm>
          <a:prstGeom prst="rect">
            <a:avLst/>
          </a:prstGeom>
          <a:noFill/>
        </p:spPr>
        <p:txBody>
          <a:bodyPr wrap="square" anchor="ctr">
            <a:spAutoFit/>
          </a:bodyPr>
          <a:lstStyle/>
          <a:p>
            <a:pPr algn="l">
              <a:defRPr sz="1400" b="0">
                <a:solidFill>
                  <a:srgbClr val="282C34"/>
                </a:solidFill>
                <a:latin typeface="Aptos"/>
              </a:defRPr>
            </a:pPr>
            <a:r>
              <a:t>See, hear and interpret information.</a:t>
            </a:r>
          </a:p>
        </p:txBody>
      </p:sp>
      <p:sp>
        <p:nvSpPr>
          <p:cNvPr id="17" name="Rounded Rectangle 16"/>
          <p:cNvSpPr/>
          <p:nvPr/>
        </p:nvSpPr>
        <p:spPr>
          <a:xfrm>
            <a:off x="4389120" y="4160520"/>
            <a:ext cx="3383280" cy="1417320"/>
          </a:xfrm>
          <a:prstGeom prst="roundRect">
            <a:avLst/>
          </a:prstGeom>
          <a:solidFill>
            <a:srgbClr val="F0EBF8"/>
          </a:solidFill>
          <a:ln w="15240">
            <a:solidFill>
              <a:srgbClr val="715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53712" y="4288536"/>
            <a:ext cx="3054096" cy="365760"/>
          </a:xfrm>
          <a:prstGeom prst="rect">
            <a:avLst/>
          </a:prstGeom>
          <a:noFill/>
        </p:spPr>
        <p:txBody>
          <a:bodyPr wrap="square" anchor="ctr">
            <a:spAutoFit/>
          </a:bodyPr>
          <a:lstStyle/>
          <a:p>
            <a:pPr algn="l">
              <a:defRPr sz="1600" b="1">
                <a:solidFill>
                  <a:srgbClr val="7153A8"/>
                </a:solidFill>
                <a:latin typeface="Aptos"/>
              </a:defRPr>
            </a:pPr>
            <a:r>
              <a:t>REASONING</a:t>
            </a:r>
          </a:p>
        </p:txBody>
      </p:sp>
      <p:sp>
        <p:nvSpPr>
          <p:cNvPr id="19" name="TextBox 18"/>
          <p:cNvSpPr txBox="1"/>
          <p:nvPr/>
        </p:nvSpPr>
        <p:spPr>
          <a:xfrm>
            <a:off x="4553712" y="4727448"/>
            <a:ext cx="3054096" cy="704088"/>
          </a:xfrm>
          <a:prstGeom prst="rect">
            <a:avLst/>
          </a:prstGeom>
          <a:noFill/>
        </p:spPr>
        <p:txBody>
          <a:bodyPr wrap="square" anchor="ctr">
            <a:spAutoFit/>
          </a:bodyPr>
          <a:lstStyle/>
          <a:p>
            <a:pPr algn="l">
              <a:defRPr sz="1400" b="0">
                <a:solidFill>
                  <a:srgbClr val="282C34"/>
                </a:solidFill>
                <a:latin typeface="Aptos"/>
              </a:defRPr>
            </a:pPr>
            <a:r>
              <a:t>Use knowledge or patterns to make decisions.</a:t>
            </a:r>
          </a:p>
        </p:txBody>
      </p:sp>
      <p:sp>
        <p:nvSpPr>
          <p:cNvPr id="20" name="Rounded Rectangle 19"/>
          <p:cNvSpPr/>
          <p:nvPr/>
        </p:nvSpPr>
        <p:spPr>
          <a:xfrm>
            <a:off x="8092440" y="4160520"/>
            <a:ext cx="3383280" cy="1417320"/>
          </a:xfrm>
          <a:prstGeom prst="roundRect">
            <a:avLst/>
          </a:prstGeom>
          <a:solidFill>
            <a:srgbClr val="FBEFE1"/>
          </a:solidFill>
          <a:ln w="15240">
            <a:solidFill>
              <a:srgbClr val="E28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57031" y="4288536"/>
            <a:ext cx="3054096" cy="365760"/>
          </a:xfrm>
          <a:prstGeom prst="rect">
            <a:avLst/>
          </a:prstGeom>
          <a:noFill/>
        </p:spPr>
        <p:txBody>
          <a:bodyPr wrap="square" anchor="ctr">
            <a:spAutoFit/>
          </a:bodyPr>
          <a:lstStyle/>
          <a:p>
            <a:pPr algn="l">
              <a:defRPr sz="1600" b="1">
                <a:solidFill>
                  <a:srgbClr val="E28431"/>
                </a:solidFill>
                <a:latin typeface="Aptos"/>
              </a:defRPr>
            </a:pPr>
            <a:r>
              <a:t>ACTION</a:t>
            </a:r>
          </a:p>
        </p:txBody>
      </p:sp>
      <p:sp>
        <p:nvSpPr>
          <p:cNvPr id="22" name="TextBox 21"/>
          <p:cNvSpPr txBox="1"/>
          <p:nvPr/>
        </p:nvSpPr>
        <p:spPr>
          <a:xfrm>
            <a:off x="8257031" y="4727448"/>
            <a:ext cx="3054096" cy="704088"/>
          </a:xfrm>
          <a:prstGeom prst="rect">
            <a:avLst/>
          </a:prstGeom>
          <a:noFill/>
        </p:spPr>
        <p:txBody>
          <a:bodyPr wrap="square" anchor="ctr">
            <a:spAutoFit/>
          </a:bodyPr>
          <a:lstStyle/>
          <a:p>
            <a:pPr algn="l">
              <a:defRPr sz="1400" b="0">
                <a:solidFill>
                  <a:srgbClr val="282C34"/>
                </a:solidFill>
                <a:latin typeface="Aptos"/>
              </a:defRPr>
            </a:pPr>
            <a:r>
              <a:t>Recommend, predict, navigate or generate.</a:t>
            </a:r>
          </a:p>
        </p:txBody>
      </p:sp>
      <p:sp>
        <p:nvSpPr>
          <p:cNvPr id="23" name="TextBox 22"/>
          <p:cNvSpPr txBox="1"/>
          <p:nvPr/>
        </p:nvSpPr>
        <p:spPr>
          <a:xfrm>
            <a:off x="594360" y="6446520"/>
            <a:ext cx="5486400" cy="228600"/>
          </a:xfrm>
          <a:prstGeom prst="rect">
            <a:avLst/>
          </a:prstGeom>
          <a:noFill/>
        </p:spPr>
        <p:txBody>
          <a:bodyPr wrap="square" anchor="ctr">
            <a:spAutoFit/>
          </a:bodyPr>
          <a:lstStyle/>
          <a:p>
            <a:pPr algn="l">
              <a:defRPr sz="800" b="0">
                <a:solidFill>
                  <a:srgbClr val="69707C"/>
                </a:solidFill>
                <a:latin typeface="Aptos"/>
              </a:defRPr>
            </a:pPr>
            <a:r>
              <a:t>AI &amp; Machine Learning • Classroom Deck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256032"/>
            <a:ext cx="1417320" cy="384048"/>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265176"/>
            <a:ext cx="1362456" cy="347472"/>
          </a:xfrm>
          <a:prstGeom prst="rect">
            <a:avLst/>
          </a:prstGeom>
          <a:noFill/>
        </p:spPr>
        <p:txBody>
          <a:bodyPr wrap="square" anchor="ctr">
            <a:spAutoFit/>
          </a:bodyPr>
          <a:lstStyle/>
          <a:p>
            <a:pPr algn="ctr">
              <a:defRPr sz="1000" b="1">
                <a:solidFill>
                  <a:srgbClr val="FFFFFF"/>
                </a:solidFill>
                <a:latin typeface="Aptos"/>
              </a:defRPr>
            </a:pPr>
            <a:r>
              <a:t>REAL WORLD</a:t>
            </a:r>
          </a:p>
        </p:txBody>
      </p:sp>
      <p:sp>
        <p:nvSpPr>
          <p:cNvPr id="5" name="TextBox 4"/>
          <p:cNvSpPr txBox="1"/>
          <p:nvPr/>
        </p:nvSpPr>
        <p:spPr>
          <a:xfrm>
            <a:off x="594360" y="749808"/>
            <a:ext cx="10972800" cy="621792"/>
          </a:xfrm>
          <a:prstGeom prst="rect">
            <a:avLst/>
          </a:prstGeom>
          <a:noFill/>
        </p:spPr>
        <p:txBody>
          <a:bodyPr wrap="square" anchor="ctr">
            <a:spAutoFit/>
          </a:bodyPr>
          <a:lstStyle/>
          <a:p>
            <a:pPr algn="l">
              <a:defRPr sz="2900" b="1">
                <a:solidFill>
                  <a:srgbClr val="1B2B4B"/>
                </a:solidFill>
                <a:latin typeface="Aptos Display"/>
              </a:defRPr>
            </a:pPr>
            <a:r>
              <a:t>Examples of AI</a:t>
            </a:r>
          </a:p>
        </p:txBody>
      </p:sp>
      <p:sp>
        <p:nvSpPr>
          <p:cNvPr id="6" name="TextBox 5"/>
          <p:cNvSpPr txBox="1"/>
          <p:nvPr/>
        </p:nvSpPr>
        <p:spPr>
          <a:xfrm>
            <a:off x="621792" y="1353312"/>
            <a:ext cx="10789920" cy="384048"/>
          </a:xfrm>
          <a:prstGeom prst="rect">
            <a:avLst/>
          </a:prstGeom>
          <a:noFill/>
        </p:spPr>
        <p:txBody>
          <a:bodyPr wrap="square" anchor="ctr">
            <a:spAutoFit/>
          </a:bodyPr>
          <a:lstStyle/>
          <a:p>
            <a:pPr algn="l">
              <a:defRPr sz="1300" b="0">
                <a:solidFill>
                  <a:srgbClr val="69707C"/>
                </a:solidFill>
                <a:latin typeface="Aptos"/>
              </a:defRPr>
            </a:pPr>
            <a:r>
              <a:t>Ask: What intelligent task is the system performing?</a:t>
            </a:r>
          </a:p>
        </p:txBody>
      </p:sp>
      <p:sp>
        <p:nvSpPr>
          <p:cNvPr id="7" name="TextBox 6"/>
          <p:cNvSpPr txBox="1"/>
          <p:nvPr/>
        </p:nvSpPr>
        <p:spPr>
          <a:xfrm>
            <a:off x="11155680" y="292608"/>
            <a:ext cx="457200" cy="274320"/>
          </a:xfrm>
          <a:prstGeom prst="rect">
            <a:avLst/>
          </a:prstGeom>
          <a:noFill/>
        </p:spPr>
        <p:txBody>
          <a:bodyPr wrap="square" anchor="ctr">
            <a:spAutoFit/>
          </a:bodyPr>
          <a:lstStyle/>
          <a:p>
            <a:pPr algn="r">
              <a:defRPr sz="900" b="1">
                <a:solidFill>
                  <a:srgbClr val="69707C"/>
                </a:solidFill>
                <a:latin typeface="Aptos"/>
              </a:defRPr>
            </a:pPr>
            <a:r>
              <a:t>05</a:t>
            </a:r>
          </a:p>
        </p:txBody>
      </p:sp>
      <p:sp>
        <p:nvSpPr>
          <p:cNvPr id="8" name="Rounded Rectangle 7"/>
          <p:cNvSpPr/>
          <p:nvPr/>
        </p:nvSpPr>
        <p:spPr>
          <a:xfrm>
            <a:off x="594360" y="1783080"/>
            <a:ext cx="3520440" cy="1600200"/>
          </a:xfrm>
          <a:prstGeom prst="roundRect">
            <a:avLst/>
          </a:prstGeom>
          <a:solidFill>
            <a:srgbClr val="E8F0F9"/>
          </a:solidFill>
          <a:ln w="1524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911095"/>
            <a:ext cx="3191256" cy="365760"/>
          </a:xfrm>
          <a:prstGeom prst="rect">
            <a:avLst/>
          </a:prstGeom>
          <a:noFill/>
        </p:spPr>
        <p:txBody>
          <a:bodyPr wrap="square" anchor="ctr">
            <a:spAutoFit/>
          </a:bodyPr>
          <a:lstStyle/>
          <a:p>
            <a:pPr algn="l">
              <a:defRPr sz="1600" b="1">
                <a:solidFill>
                  <a:srgbClr val="2B6CB0"/>
                </a:solidFill>
                <a:latin typeface="Aptos"/>
              </a:defRPr>
            </a:pPr>
            <a:r>
              <a:t>Voice assistant</a:t>
            </a:r>
          </a:p>
        </p:txBody>
      </p:sp>
      <p:sp>
        <p:nvSpPr>
          <p:cNvPr id="10" name="TextBox 9"/>
          <p:cNvSpPr txBox="1"/>
          <p:nvPr/>
        </p:nvSpPr>
        <p:spPr>
          <a:xfrm>
            <a:off x="758952" y="2350008"/>
            <a:ext cx="3191256" cy="886968"/>
          </a:xfrm>
          <a:prstGeom prst="rect">
            <a:avLst/>
          </a:prstGeom>
          <a:noFill/>
        </p:spPr>
        <p:txBody>
          <a:bodyPr wrap="square" anchor="ctr">
            <a:spAutoFit/>
          </a:bodyPr>
          <a:lstStyle/>
          <a:p>
            <a:pPr algn="l">
              <a:defRPr sz="1100" b="0">
                <a:solidFill>
                  <a:srgbClr val="282C34"/>
                </a:solidFill>
                <a:latin typeface="Aptos"/>
              </a:defRPr>
            </a:pPr>
            <a:r>
              <a:t>Understands speech</a:t>
            </a:r>
            <a:br/>
            <a:r>
              <a:t>Language + speech</a:t>
            </a:r>
          </a:p>
        </p:txBody>
      </p:sp>
      <p:sp>
        <p:nvSpPr>
          <p:cNvPr id="11" name="Rounded Rectangle 10"/>
          <p:cNvSpPr/>
          <p:nvPr/>
        </p:nvSpPr>
        <p:spPr>
          <a:xfrm>
            <a:off x="4434840" y="1783080"/>
            <a:ext cx="3520440" cy="1600200"/>
          </a:xfrm>
          <a:prstGeom prst="roundRect">
            <a:avLst/>
          </a:prstGeom>
          <a:solidFill>
            <a:srgbClr val="E7F6F4"/>
          </a:solidFill>
          <a:ln w="15240">
            <a:solidFill>
              <a:srgbClr val="2089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2" y="1911095"/>
            <a:ext cx="3191256" cy="365760"/>
          </a:xfrm>
          <a:prstGeom prst="rect">
            <a:avLst/>
          </a:prstGeom>
          <a:noFill/>
        </p:spPr>
        <p:txBody>
          <a:bodyPr wrap="square" anchor="ctr">
            <a:spAutoFit/>
          </a:bodyPr>
          <a:lstStyle/>
          <a:p>
            <a:pPr algn="l">
              <a:defRPr sz="1600" b="1">
                <a:solidFill>
                  <a:srgbClr val="208984"/>
                </a:solidFill>
                <a:latin typeface="Aptos"/>
              </a:defRPr>
            </a:pPr>
            <a:r>
              <a:t>Navigation</a:t>
            </a:r>
          </a:p>
        </p:txBody>
      </p:sp>
      <p:sp>
        <p:nvSpPr>
          <p:cNvPr id="13" name="TextBox 12"/>
          <p:cNvSpPr txBox="1"/>
          <p:nvPr/>
        </p:nvSpPr>
        <p:spPr>
          <a:xfrm>
            <a:off x="4599432" y="2350008"/>
            <a:ext cx="3191256" cy="886968"/>
          </a:xfrm>
          <a:prstGeom prst="rect">
            <a:avLst/>
          </a:prstGeom>
          <a:noFill/>
        </p:spPr>
        <p:txBody>
          <a:bodyPr wrap="square" anchor="ctr">
            <a:spAutoFit/>
          </a:bodyPr>
          <a:lstStyle/>
          <a:p>
            <a:pPr algn="l">
              <a:defRPr sz="1100" b="0">
                <a:solidFill>
                  <a:srgbClr val="282C34"/>
                </a:solidFill>
                <a:latin typeface="Aptos"/>
              </a:defRPr>
            </a:pPr>
            <a:r>
              <a:t>Chooses / optimizes routes</a:t>
            </a:r>
            <a:br/>
            <a:r>
              <a:t>Search + prediction</a:t>
            </a:r>
          </a:p>
        </p:txBody>
      </p:sp>
      <p:sp>
        <p:nvSpPr>
          <p:cNvPr id="14" name="Rounded Rectangle 13"/>
          <p:cNvSpPr/>
          <p:nvPr/>
        </p:nvSpPr>
        <p:spPr>
          <a:xfrm>
            <a:off x="8275320" y="1783080"/>
            <a:ext cx="3520440" cy="1600200"/>
          </a:xfrm>
          <a:prstGeom prst="roundRect">
            <a:avLst/>
          </a:prstGeom>
          <a:solidFill>
            <a:srgbClr val="F0EBF8"/>
          </a:solidFill>
          <a:ln w="15240">
            <a:solidFill>
              <a:srgbClr val="715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39912" y="1911095"/>
            <a:ext cx="3191256" cy="365760"/>
          </a:xfrm>
          <a:prstGeom prst="rect">
            <a:avLst/>
          </a:prstGeom>
          <a:noFill/>
        </p:spPr>
        <p:txBody>
          <a:bodyPr wrap="square" anchor="ctr">
            <a:spAutoFit/>
          </a:bodyPr>
          <a:lstStyle/>
          <a:p>
            <a:pPr algn="l">
              <a:defRPr sz="1600" b="1">
                <a:solidFill>
                  <a:srgbClr val="7153A8"/>
                </a:solidFill>
                <a:latin typeface="Aptos"/>
              </a:defRPr>
            </a:pPr>
            <a:r>
              <a:t>Face unlock</a:t>
            </a:r>
          </a:p>
        </p:txBody>
      </p:sp>
      <p:sp>
        <p:nvSpPr>
          <p:cNvPr id="16" name="TextBox 15"/>
          <p:cNvSpPr txBox="1"/>
          <p:nvPr/>
        </p:nvSpPr>
        <p:spPr>
          <a:xfrm>
            <a:off x="8439912" y="2350008"/>
            <a:ext cx="3191256" cy="886968"/>
          </a:xfrm>
          <a:prstGeom prst="rect">
            <a:avLst/>
          </a:prstGeom>
          <a:noFill/>
        </p:spPr>
        <p:txBody>
          <a:bodyPr wrap="square" anchor="ctr">
            <a:spAutoFit/>
          </a:bodyPr>
          <a:lstStyle/>
          <a:p>
            <a:pPr algn="l">
              <a:defRPr sz="1100" b="0">
                <a:solidFill>
                  <a:srgbClr val="282C34"/>
                </a:solidFill>
                <a:latin typeface="Aptos"/>
              </a:defRPr>
            </a:pPr>
            <a:r>
              <a:t>Recognizes a person</a:t>
            </a:r>
            <a:br/>
            <a:r>
              <a:t>Computer vision</a:t>
            </a:r>
          </a:p>
        </p:txBody>
      </p:sp>
      <p:sp>
        <p:nvSpPr>
          <p:cNvPr id="17" name="Rounded Rectangle 16"/>
          <p:cNvSpPr/>
          <p:nvPr/>
        </p:nvSpPr>
        <p:spPr>
          <a:xfrm>
            <a:off x="594360" y="3749039"/>
            <a:ext cx="3520440" cy="1600200"/>
          </a:xfrm>
          <a:prstGeom prst="roundRect">
            <a:avLst/>
          </a:prstGeom>
          <a:solidFill>
            <a:srgbClr val="FBEFE1"/>
          </a:solidFill>
          <a:ln w="15240">
            <a:solidFill>
              <a:srgbClr val="E28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3877055"/>
            <a:ext cx="3191256" cy="365760"/>
          </a:xfrm>
          <a:prstGeom prst="rect">
            <a:avLst/>
          </a:prstGeom>
          <a:noFill/>
        </p:spPr>
        <p:txBody>
          <a:bodyPr wrap="square" anchor="ctr">
            <a:spAutoFit/>
          </a:bodyPr>
          <a:lstStyle/>
          <a:p>
            <a:pPr algn="l">
              <a:defRPr sz="1600" b="1">
                <a:solidFill>
                  <a:srgbClr val="E28431"/>
                </a:solidFill>
                <a:latin typeface="Aptos"/>
              </a:defRPr>
            </a:pPr>
            <a:r>
              <a:t>Chatbot</a:t>
            </a:r>
          </a:p>
        </p:txBody>
      </p:sp>
      <p:sp>
        <p:nvSpPr>
          <p:cNvPr id="19" name="TextBox 18"/>
          <p:cNvSpPr txBox="1"/>
          <p:nvPr/>
        </p:nvSpPr>
        <p:spPr>
          <a:xfrm>
            <a:off x="758952" y="4315968"/>
            <a:ext cx="3191256" cy="886968"/>
          </a:xfrm>
          <a:prstGeom prst="rect">
            <a:avLst/>
          </a:prstGeom>
          <a:noFill/>
        </p:spPr>
        <p:txBody>
          <a:bodyPr wrap="square" anchor="ctr">
            <a:spAutoFit/>
          </a:bodyPr>
          <a:lstStyle/>
          <a:p>
            <a:pPr algn="l">
              <a:defRPr sz="1100" b="0">
                <a:solidFill>
                  <a:srgbClr val="282C34"/>
                </a:solidFill>
                <a:latin typeface="Aptos"/>
              </a:defRPr>
            </a:pPr>
            <a:r>
              <a:t>Understands / generates language</a:t>
            </a:r>
            <a:br/>
            <a:r>
              <a:t>NLP + ML</a:t>
            </a:r>
          </a:p>
        </p:txBody>
      </p:sp>
      <p:sp>
        <p:nvSpPr>
          <p:cNvPr id="20" name="Rounded Rectangle 19"/>
          <p:cNvSpPr/>
          <p:nvPr/>
        </p:nvSpPr>
        <p:spPr>
          <a:xfrm>
            <a:off x="4434840" y="3749039"/>
            <a:ext cx="3520440" cy="1600200"/>
          </a:xfrm>
          <a:prstGeom prst="roundRect">
            <a:avLst/>
          </a:prstGeom>
          <a:solidFill>
            <a:srgbClr val="E8F5EC"/>
          </a:solidFill>
          <a:ln w="15240">
            <a:solidFill>
              <a:srgbClr val="378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99432" y="3877055"/>
            <a:ext cx="3191256" cy="365760"/>
          </a:xfrm>
          <a:prstGeom prst="rect">
            <a:avLst/>
          </a:prstGeom>
          <a:noFill/>
        </p:spPr>
        <p:txBody>
          <a:bodyPr wrap="square" anchor="ctr">
            <a:spAutoFit/>
          </a:bodyPr>
          <a:lstStyle/>
          <a:p>
            <a:pPr algn="l">
              <a:defRPr sz="1600" b="1">
                <a:solidFill>
                  <a:srgbClr val="37895B"/>
                </a:solidFill>
                <a:latin typeface="Aptos"/>
              </a:defRPr>
            </a:pPr>
            <a:r>
              <a:t>Game agent</a:t>
            </a:r>
          </a:p>
        </p:txBody>
      </p:sp>
      <p:sp>
        <p:nvSpPr>
          <p:cNvPr id="22" name="TextBox 21"/>
          <p:cNvSpPr txBox="1"/>
          <p:nvPr/>
        </p:nvSpPr>
        <p:spPr>
          <a:xfrm>
            <a:off x="4599432" y="4315968"/>
            <a:ext cx="3191256" cy="886968"/>
          </a:xfrm>
          <a:prstGeom prst="rect">
            <a:avLst/>
          </a:prstGeom>
          <a:noFill/>
        </p:spPr>
        <p:txBody>
          <a:bodyPr wrap="square" anchor="ctr">
            <a:spAutoFit/>
          </a:bodyPr>
          <a:lstStyle/>
          <a:p>
            <a:pPr algn="l">
              <a:defRPr sz="1100" b="0">
                <a:solidFill>
                  <a:srgbClr val="282C34"/>
                </a:solidFill>
                <a:latin typeface="Aptos"/>
              </a:defRPr>
            </a:pPr>
            <a:r>
              <a:t>Chooses actions</a:t>
            </a:r>
            <a:br/>
            <a:r>
              <a:t>Planning / learning</a:t>
            </a:r>
          </a:p>
        </p:txBody>
      </p:sp>
      <p:sp>
        <p:nvSpPr>
          <p:cNvPr id="23" name="Rounded Rectangle 22"/>
          <p:cNvSpPr/>
          <p:nvPr/>
        </p:nvSpPr>
        <p:spPr>
          <a:xfrm>
            <a:off x="8275320" y="3749039"/>
            <a:ext cx="3520440" cy="1600200"/>
          </a:xfrm>
          <a:prstGeom prst="roundRect">
            <a:avLst/>
          </a:prstGeom>
          <a:solidFill>
            <a:srgbClr val="E8F0F9"/>
          </a:solidFill>
          <a:ln w="1524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39912" y="3877055"/>
            <a:ext cx="3191256" cy="365760"/>
          </a:xfrm>
          <a:prstGeom prst="rect">
            <a:avLst/>
          </a:prstGeom>
          <a:noFill/>
        </p:spPr>
        <p:txBody>
          <a:bodyPr wrap="square" anchor="ctr">
            <a:spAutoFit/>
          </a:bodyPr>
          <a:lstStyle/>
          <a:p>
            <a:pPr algn="l">
              <a:defRPr sz="1600" b="1">
                <a:solidFill>
                  <a:srgbClr val="2B6CB0"/>
                </a:solidFill>
                <a:latin typeface="Aptos"/>
              </a:defRPr>
            </a:pPr>
            <a:r>
              <a:t>Recommendation</a:t>
            </a:r>
          </a:p>
        </p:txBody>
      </p:sp>
      <p:sp>
        <p:nvSpPr>
          <p:cNvPr id="25" name="TextBox 24"/>
          <p:cNvSpPr txBox="1"/>
          <p:nvPr/>
        </p:nvSpPr>
        <p:spPr>
          <a:xfrm>
            <a:off x="8439912" y="4315968"/>
            <a:ext cx="3191256" cy="886968"/>
          </a:xfrm>
          <a:prstGeom prst="rect">
            <a:avLst/>
          </a:prstGeom>
          <a:noFill/>
        </p:spPr>
        <p:txBody>
          <a:bodyPr wrap="square" anchor="ctr">
            <a:spAutoFit/>
          </a:bodyPr>
          <a:lstStyle/>
          <a:p>
            <a:pPr algn="l">
              <a:defRPr sz="1100" b="0">
                <a:solidFill>
                  <a:srgbClr val="282C34"/>
                </a:solidFill>
                <a:latin typeface="Aptos"/>
              </a:defRPr>
            </a:pPr>
            <a:r>
              <a:t>Predicts useful content</a:t>
            </a:r>
            <a:br/>
            <a:r>
              <a:t>Machine learning</a:t>
            </a:r>
          </a:p>
        </p:txBody>
      </p:sp>
      <p:sp>
        <p:nvSpPr>
          <p:cNvPr id="26" name="TextBox 25"/>
          <p:cNvSpPr txBox="1"/>
          <p:nvPr/>
        </p:nvSpPr>
        <p:spPr>
          <a:xfrm>
            <a:off x="594360" y="6446520"/>
            <a:ext cx="5486400" cy="228600"/>
          </a:xfrm>
          <a:prstGeom prst="rect">
            <a:avLst/>
          </a:prstGeom>
          <a:noFill/>
        </p:spPr>
        <p:txBody>
          <a:bodyPr wrap="square" anchor="ctr">
            <a:spAutoFit/>
          </a:bodyPr>
          <a:lstStyle/>
          <a:p>
            <a:pPr algn="l">
              <a:defRPr sz="800" b="0">
                <a:solidFill>
                  <a:srgbClr val="69707C"/>
                </a:solidFill>
                <a:latin typeface="Aptos"/>
              </a:defRPr>
            </a:pPr>
            <a:r>
              <a:t>AI &amp; Machine Learning • Classroom Deck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256032"/>
            <a:ext cx="1417320" cy="384048"/>
          </a:xfrm>
          <a:prstGeom prst="roundRect">
            <a:avLst/>
          </a:prstGeom>
          <a:solidFill>
            <a:srgbClr val="2089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265176"/>
            <a:ext cx="1362456" cy="347472"/>
          </a:xfrm>
          <a:prstGeom prst="rect">
            <a:avLst/>
          </a:prstGeom>
          <a:noFill/>
        </p:spPr>
        <p:txBody>
          <a:bodyPr wrap="square" anchor="ctr">
            <a:spAutoFit/>
          </a:bodyPr>
          <a:lstStyle/>
          <a:p>
            <a:pPr algn="ctr">
              <a:defRPr sz="1000" b="1">
                <a:solidFill>
                  <a:srgbClr val="FFFFFF"/>
                </a:solidFill>
                <a:latin typeface="Aptos"/>
              </a:defRPr>
            </a:pPr>
            <a:r>
              <a:t>THEORY</a:t>
            </a:r>
          </a:p>
        </p:txBody>
      </p:sp>
      <p:sp>
        <p:nvSpPr>
          <p:cNvPr id="5" name="TextBox 4"/>
          <p:cNvSpPr txBox="1"/>
          <p:nvPr/>
        </p:nvSpPr>
        <p:spPr>
          <a:xfrm>
            <a:off x="594360" y="749808"/>
            <a:ext cx="10972800" cy="621792"/>
          </a:xfrm>
          <a:prstGeom prst="rect">
            <a:avLst/>
          </a:prstGeom>
          <a:noFill/>
        </p:spPr>
        <p:txBody>
          <a:bodyPr wrap="square" anchor="ctr">
            <a:spAutoFit/>
          </a:bodyPr>
          <a:lstStyle/>
          <a:p>
            <a:pPr algn="l">
              <a:defRPr sz="2900" b="1">
                <a:solidFill>
                  <a:srgbClr val="1B2B4B"/>
                </a:solidFill>
                <a:latin typeface="Aptos Display"/>
              </a:defRPr>
            </a:pPr>
            <a:r>
              <a:t>What is Machine Learning?</a:t>
            </a:r>
          </a:p>
        </p:txBody>
      </p:sp>
      <p:sp>
        <p:nvSpPr>
          <p:cNvPr id="6" name="TextBox 5"/>
          <p:cNvSpPr txBox="1"/>
          <p:nvPr/>
        </p:nvSpPr>
        <p:spPr>
          <a:xfrm>
            <a:off x="621792" y="1353312"/>
            <a:ext cx="10789920" cy="384048"/>
          </a:xfrm>
          <a:prstGeom prst="rect">
            <a:avLst/>
          </a:prstGeom>
          <a:noFill/>
        </p:spPr>
        <p:txBody>
          <a:bodyPr wrap="square" anchor="ctr">
            <a:spAutoFit/>
          </a:bodyPr>
          <a:lstStyle/>
          <a:p>
            <a:pPr algn="l">
              <a:defRPr sz="1300" b="0">
                <a:solidFill>
                  <a:srgbClr val="69707C"/>
                </a:solidFill>
                <a:latin typeface="Aptos"/>
              </a:defRPr>
            </a:pPr>
            <a:r>
              <a:t>Machine Learning is a subset of AI.</a:t>
            </a:r>
          </a:p>
        </p:txBody>
      </p:sp>
      <p:sp>
        <p:nvSpPr>
          <p:cNvPr id="7" name="TextBox 6"/>
          <p:cNvSpPr txBox="1"/>
          <p:nvPr/>
        </p:nvSpPr>
        <p:spPr>
          <a:xfrm>
            <a:off x="11155680" y="292608"/>
            <a:ext cx="457200" cy="274320"/>
          </a:xfrm>
          <a:prstGeom prst="rect">
            <a:avLst/>
          </a:prstGeom>
          <a:noFill/>
        </p:spPr>
        <p:txBody>
          <a:bodyPr wrap="square" anchor="ctr">
            <a:spAutoFit/>
          </a:bodyPr>
          <a:lstStyle/>
          <a:p>
            <a:pPr algn="r">
              <a:defRPr sz="900" b="1">
                <a:solidFill>
                  <a:srgbClr val="69707C"/>
                </a:solidFill>
                <a:latin typeface="Aptos"/>
              </a:defRPr>
            </a:pPr>
            <a:r>
              <a:t>06</a:t>
            </a:r>
          </a:p>
        </p:txBody>
      </p:sp>
      <p:sp>
        <p:nvSpPr>
          <p:cNvPr id="8" name="Rounded Rectangle 7"/>
          <p:cNvSpPr/>
          <p:nvPr/>
        </p:nvSpPr>
        <p:spPr>
          <a:xfrm>
            <a:off x="685800" y="1783080"/>
            <a:ext cx="6629400" cy="2103120"/>
          </a:xfrm>
          <a:prstGeom prst="roundRect">
            <a:avLst/>
          </a:prstGeom>
          <a:solidFill>
            <a:srgbClr val="E7F6F4"/>
          </a:solidFill>
          <a:ln w="15240">
            <a:solidFill>
              <a:srgbClr val="2089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911095"/>
            <a:ext cx="6300216" cy="365760"/>
          </a:xfrm>
          <a:prstGeom prst="rect">
            <a:avLst/>
          </a:prstGeom>
          <a:noFill/>
        </p:spPr>
        <p:txBody>
          <a:bodyPr wrap="square" anchor="ctr">
            <a:spAutoFit/>
          </a:bodyPr>
          <a:lstStyle/>
          <a:p>
            <a:pPr algn="l">
              <a:defRPr sz="1900" b="1">
                <a:solidFill>
                  <a:srgbClr val="208984"/>
                </a:solidFill>
                <a:latin typeface="Aptos"/>
              </a:defRPr>
            </a:pPr>
            <a:r>
              <a:t>PROPER DEFINITION</a:t>
            </a:r>
          </a:p>
        </p:txBody>
      </p:sp>
      <p:sp>
        <p:nvSpPr>
          <p:cNvPr id="10" name="TextBox 9"/>
          <p:cNvSpPr txBox="1"/>
          <p:nvPr/>
        </p:nvSpPr>
        <p:spPr>
          <a:xfrm>
            <a:off x="850392" y="2350008"/>
            <a:ext cx="6300216" cy="1389887"/>
          </a:xfrm>
          <a:prstGeom prst="rect">
            <a:avLst/>
          </a:prstGeom>
          <a:noFill/>
        </p:spPr>
        <p:txBody>
          <a:bodyPr wrap="square" anchor="ctr">
            <a:spAutoFit/>
          </a:bodyPr>
          <a:lstStyle/>
          <a:p>
            <a:pPr algn="l">
              <a:defRPr sz="1500" b="0">
                <a:solidFill>
                  <a:srgbClr val="282C34"/>
                </a:solidFill>
                <a:latin typeface="Aptos"/>
              </a:defRPr>
            </a:pPr>
            <a:r>
              <a:t>Machine Learning (ML) is a branch of AI that enables computers to learn patterns or relationships from data and use those learned patterns to make predictions or decisions on new, unseen data, without being explicitly programmed with every rule.</a:t>
            </a:r>
          </a:p>
        </p:txBody>
      </p:sp>
      <p:sp>
        <p:nvSpPr>
          <p:cNvPr id="11" name="Rounded Rectangle 10"/>
          <p:cNvSpPr/>
          <p:nvPr/>
        </p:nvSpPr>
        <p:spPr>
          <a:xfrm>
            <a:off x="7543800" y="1783080"/>
            <a:ext cx="3886200" cy="2103120"/>
          </a:xfrm>
          <a:prstGeom prst="roundRect">
            <a:avLst/>
          </a:prstGeom>
          <a:solidFill>
            <a:srgbClr val="FFFFFF"/>
          </a:solidFill>
          <a:ln w="1524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08392" y="1911095"/>
            <a:ext cx="3557016" cy="365760"/>
          </a:xfrm>
          <a:prstGeom prst="rect">
            <a:avLst/>
          </a:prstGeom>
          <a:noFill/>
        </p:spPr>
        <p:txBody>
          <a:bodyPr wrap="square" anchor="ctr">
            <a:spAutoFit/>
          </a:bodyPr>
          <a:lstStyle/>
          <a:p>
            <a:pPr algn="l">
              <a:defRPr sz="1900" b="1">
                <a:solidFill>
                  <a:srgbClr val="2B6CB0"/>
                </a:solidFill>
                <a:latin typeface="Aptos"/>
              </a:defRPr>
            </a:pPr>
            <a:r>
              <a:t>IN SIMPLE WORDS</a:t>
            </a:r>
          </a:p>
        </p:txBody>
      </p:sp>
      <p:sp>
        <p:nvSpPr>
          <p:cNvPr id="13" name="TextBox 12"/>
          <p:cNvSpPr txBox="1"/>
          <p:nvPr/>
        </p:nvSpPr>
        <p:spPr>
          <a:xfrm>
            <a:off x="7708392" y="2350008"/>
            <a:ext cx="3557016" cy="1389887"/>
          </a:xfrm>
          <a:prstGeom prst="rect">
            <a:avLst/>
          </a:prstGeom>
          <a:noFill/>
        </p:spPr>
        <p:txBody>
          <a:bodyPr wrap="square" anchor="ctr">
            <a:spAutoFit/>
          </a:bodyPr>
          <a:lstStyle/>
          <a:p>
            <a:pPr algn="l">
              <a:defRPr sz="1700" b="0">
                <a:solidFill>
                  <a:srgbClr val="282C34"/>
                </a:solidFill>
                <a:latin typeface="Aptos"/>
              </a:defRPr>
            </a:pPr>
            <a:r>
              <a:t>ML = learn from examples → find patterns → predict or decide.</a:t>
            </a:r>
          </a:p>
        </p:txBody>
      </p:sp>
      <p:sp>
        <p:nvSpPr>
          <p:cNvPr id="14" name="Rounded Rectangle 13"/>
          <p:cNvSpPr/>
          <p:nvPr/>
        </p:nvSpPr>
        <p:spPr>
          <a:xfrm>
            <a:off x="612648" y="4572000"/>
            <a:ext cx="2062886" cy="786384"/>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 y="4681728"/>
            <a:ext cx="1989734" cy="566928"/>
          </a:xfrm>
          <a:prstGeom prst="rect">
            <a:avLst/>
          </a:prstGeom>
          <a:noFill/>
        </p:spPr>
        <p:txBody>
          <a:bodyPr wrap="square" anchor="ctr">
            <a:spAutoFit/>
          </a:bodyPr>
          <a:lstStyle/>
          <a:p>
            <a:pPr algn="ctr">
              <a:defRPr sz="1400" b="1">
                <a:solidFill>
                  <a:srgbClr val="FFFFFF"/>
                </a:solidFill>
                <a:latin typeface="Aptos"/>
              </a:defRPr>
            </a:pPr>
            <a:r>
              <a:t>Data / examples</a:t>
            </a:r>
          </a:p>
        </p:txBody>
      </p:sp>
      <p:sp>
        <p:nvSpPr>
          <p:cNvPr id="16" name="Rounded Rectangle 15"/>
          <p:cNvSpPr/>
          <p:nvPr/>
        </p:nvSpPr>
        <p:spPr>
          <a:xfrm>
            <a:off x="2840126" y="4572000"/>
            <a:ext cx="2062886" cy="786384"/>
          </a:xfrm>
          <a:prstGeom prst="roundRect">
            <a:avLst/>
          </a:prstGeom>
          <a:solidFill>
            <a:srgbClr val="2089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76702" y="4681728"/>
            <a:ext cx="1989734" cy="566928"/>
          </a:xfrm>
          <a:prstGeom prst="rect">
            <a:avLst/>
          </a:prstGeom>
          <a:noFill/>
        </p:spPr>
        <p:txBody>
          <a:bodyPr wrap="square" anchor="ctr">
            <a:spAutoFit/>
          </a:bodyPr>
          <a:lstStyle/>
          <a:p>
            <a:pPr algn="ctr">
              <a:defRPr sz="1400" b="1">
                <a:solidFill>
                  <a:srgbClr val="FFFFFF"/>
                </a:solidFill>
                <a:latin typeface="Aptos"/>
              </a:defRPr>
            </a:pPr>
            <a:r>
              <a:t>Learning</a:t>
            </a:r>
          </a:p>
        </p:txBody>
      </p:sp>
      <p:sp>
        <p:nvSpPr>
          <p:cNvPr id="18" name="Rounded Rectangle 17"/>
          <p:cNvSpPr/>
          <p:nvPr/>
        </p:nvSpPr>
        <p:spPr>
          <a:xfrm>
            <a:off x="5067604" y="4572000"/>
            <a:ext cx="2062886" cy="786384"/>
          </a:xfrm>
          <a:prstGeom prst="roundRect">
            <a:avLst/>
          </a:prstGeom>
          <a:solidFill>
            <a:srgbClr val="1B2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04180" y="4681728"/>
            <a:ext cx="1989734" cy="566928"/>
          </a:xfrm>
          <a:prstGeom prst="rect">
            <a:avLst/>
          </a:prstGeom>
          <a:noFill/>
        </p:spPr>
        <p:txBody>
          <a:bodyPr wrap="square" anchor="ctr">
            <a:spAutoFit/>
          </a:bodyPr>
          <a:lstStyle/>
          <a:p>
            <a:pPr algn="ctr">
              <a:defRPr sz="1400" b="1">
                <a:solidFill>
                  <a:srgbClr val="FFFFFF"/>
                </a:solidFill>
                <a:latin typeface="Aptos"/>
              </a:defRPr>
            </a:pPr>
            <a:r>
              <a:t>Model</a:t>
            </a:r>
          </a:p>
        </p:txBody>
      </p:sp>
      <p:sp>
        <p:nvSpPr>
          <p:cNvPr id="20" name="Rounded Rectangle 19"/>
          <p:cNvSpPr/>
          <p:nvPr/>
        </p:nvSpPr>
        <p:spPr>
          <a:xfrm>
            <a:off x="7295083" y="4572000"/>
            <a:ext cx="2062886" cy="786384"/>
          </a:xfrm>
          <a:prstGeom prst="roundRect">
            <a:avLst/>
          </a:prstGeom>
          <a:solidFill>
            <a:srgbClr val="E284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31659" y="4681728"/>
            <a:ext cx="1989734" cy="566928"/>
          </a:xfrm>
          <a:prstGeom prst="rect">
            <a:avLst/>
          </a:prstGeom>
          <a:noFill/>
        </p:spPr>
        <p:txBody>
          <a:bodyPr wrap="square" anchor="ctr">
            <a:spAutoFit/>
          </a:bodyPr>
          <a:lstStyle/>
          <a:p>
            <a:pPr algn="ctr">
              <a:defRPr sz="1400" b="1">
                <a:solidFill>
                  <a:srgbClr val="FFFFFF"/>
                </a:solidFill>
                <a:latin typeface="Aptos"/>
              </a:defRPr>
            </a:pPr>
            <a:r>
              <a:t>New data</a:t>
            </a:r>
          </a:p>
        </p:txBody>
      </p:sp>
      <p:sp>
        <p:nvSpPr>
          <p:cNvPr id="22" name="Rounded Rectangle 21"/>
          <p:cNvSpPr/>
          <p:nvPr/>
        </p:nvSpPr>
        <p:spPr>
          <a:xfrm>
            <a:off x="9522561" y="4572000"/>
            <a:ext cx="2062886" cy="786384"/>
          </a:xfrm>
          <a:prstGeom prst="roundRect">
            <a:avLst/>
          </a:prstGeom>
          <a:solidFill>
            <a:srgbClr val="378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59137" y="4681728"/>
            <a:ext cx="1989734" cy="566928"/>
          </a:xfrm>
          <a:prstGeom prst="rect">
            <a:avLst/>
          </a:prstGeom>
          <a:noFill/>
        </p:spPr>
        <p:txBody>
          <a:bodyPr wrap="square" anchor="ctr">
            <a:spAutoFit/>
          </a:bodyPr>
          <a:lstStyle/>
          <a:p>
            <a:pPr algn="ctr">
              <a:defRPr sz="1400" b="1">
                <a:solidFill>
                  <a:srgbClr val="FFFFFF"/>
                </a:solidFill>
                <a:latin typeface="Aptos"/>
              </a:defRPr>
            </a:pPr>
            <a:r>
              <a:t>Prediction</a:t>
            </a:r>
          </a:p>
        </p:txBody>
      </p:sp>
      <p:sp>
        <p:nvSpPr>
          <p:cNvPr id="24" name="TextBox 23"/>
          <p:cNvSpPr txBox="1"/>
          <p:nvPr/>
        </p:nvSpPr>
        <p:spPr>
          <a:xfrm>
            <a:off x="594360" y="6446520"/>
            <a:ext cx="5486400" cy="228600"/>
          </a:xfrm>
          <a:prstGeom prst="rect">
            <a:avLst/>
          </a:prstGeom>
          <a:noFill/>
        </p:spPr>
        <p:txBody>
          <a:bodyPr wrap="square" anchor="ctr">
            <a:spAutoFit/>
          </a:bodyPr>
          <a:lstStyle/>
          <a:p>
            <a:pPr algn="l">
              <a:defRPr sz="800" b="0">
                <a:solidFill>
                  <a:srgbClr val="69707C"/>
                </a:solidFill>
                <a:latin typeface="Aptos"/>
              </a:defRPr>
            </a:pPr>
            <a:r>
              <a:t>AI &amp; Machine Learning • Classroom Deck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256032"/>
            <a:ext cx="1417320" cy="384048"/>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265176"/>
            <a:ext cx="1362456" cy="347472"/>
          </a:xfrm>
          <a:prstGeom prst="rect">
            <a:avLst/>
          </a:prstGeom>
          <a:noFill/>
        </p:spPr>
        <p:txBody>
          <a:bodyPr wrap="square" anchor="ctr">
            <a:spAutoFit/>
          </a:bodyPr>
          <a:lstStyle/>
          <a:p>
            <a:pPr algn="ctr">
              <a:defRPr sz="1000" b="1">
                <a:solidFill>
                  <a:srgbClr val="FFFFFF"/>
                </a:solidFill>
                <a:latin typeface="Aptos"/>
              </a:defRPr>
            </a:pPr>
            <a:r>
              <a:t>THEORY</a:t>
            </a:r>
          </a:p>
        </p:txBody>
      </p:sp>
      <p:sp>
        <p:nvSpPr>
          <p:cNvPr id="5" name="TextBox 4"/>
          <p:cNvSpPr txBox="1"/>
          <p:nvPr/>
        </p:nvSpPr>
        <p:spPr>
          <a:xfrm>
            <a:off x="594360" y="749808"/>
            <a:ext cx="10972800" cy="621792"/>
          </a:xfrm>
          <a:prstGeom prst="rect">
            <a:avLst/>
          </a:prstGeom>
          <a:noFill/>
        </p:spPr>
        <p:txBody>
          <a:bodyPr wrap="square" anchor="ctr">
            <a:spAutoFit/>
          </a:bodyPr>
          <a:lstStyle/>
          <a:p>
            <a:pPr algn="l">
              <a:defRPr sz="2900" b="1">
                <a:solidFill>
                  <a:srgbClr val="1B2B4B"/>
                </a:solidFill>
                <a:latin typeface="Aptos Display"/>
              </a:defRPr>
            </a:pPr>
            <a:r>
              <a:t>Traditional programming vs Machine Learning</a:t>
            </a:r>
          </a:p>
        </p:txBody>
      </p:sp>
      <p:sp>
        <p:nvSpPr>
          <p:cNvPr id="6" name="TextBox 5"/>
          <p:cNvSpPr txBox="1"/>
          <p:nvPr/>
        </p:nvSpPr>
        <p:spPr>
          <a:xfrm>
            <a:off x="621792" y="1353312"/>
            <a:ext cx="10789920" cy="384048"/>
          </a:xfrm>
          <a:prstGeom prst="rect">
            <a:avLst/>
          </a:prstGeom>
          <a:noFill/>
        </p:spPr>
        <p:txBody>
          <a:bodyPr wrap="square" anchor="ctr">
            <a:spAutoFit/>
          </a:bodyPr>
          <a:lstStyle/>
          <a:p>
            <a:pPr algn="l">
              <a:defRPr sz="1300" b="0">
                <a:solidFill>
                  <a:srgbClr val="69707C"/>
                </a:solidFill>
                <a:latin typeface="Aptos"/>
              </a:defRPr>
            </a:pPr>
            <a:r>
              <a:t>This comparison helps students understand what “learning” means.</a:t>
            </a:r>
          </a:p>
        </p:txBody>
      </p:sp>
      <p:sp>
        <p:nvSpPr>
          <p:cNvPr id="7" name="TextBox 6"/>
          <p:cNvSpPr txBox="1"/>
          <p:nvPr/>
        </p:nvSpPr>
        <p:spPr>
          <a:xfrm>
            <a:off x="11155680" y="292608"/>
            <a:ext cx="457200" cy="274320"/>
          </a:xfrm>
          <a:prstGeom prst="rect">
            <a:avLst/>
          </a:prstGeom>
          <a:noFill/>
        </p:spPr>
        <p:txBody>
          <a:bodyPr wrap="square" anchor="ctr">
            <a:spAutoFit/>
          </a:bodyPr>
          <a:lstStyle/>
          <a:p>
            <a:pPr algn="r">
              <a:defRPr sz="900" b="1">
                <a:solidFill>
                  <a:srgbClr val="69707C"/>
                </a:solidFill>
                <a:latin typeface="Aptos"/>
              </a:defRPr>
            </a:pPr>
            <a:r>
              <a:t>07</a:t>
            </a:r>
          </a:p>
        </p:txBody>
      </p:sp>
      <p:sp>
        <p:nvSpPr>
          <p:cNvPr id="8" name="Rounded Rectangle 7"/>
          <p:cNvSpPr/>
          <p:nvPr/>
        </p:nvSpPr>
        <p:spPr>
          <a:xfrm>
            <a:off x="731520" y="1828800"/>
            <a:ext cx="5074920" cy="2331720"/>
          </a:xfrm>
          <a:prstGeom prst="roundRect">
            <a:avLst/>
          </a:prstGeom>
          <a:solidFill>
            <a:srgbClr val="E8F0F9"/>
          </a:solidFill>
          <a:ln w="15240">
            <a:solidFill>
              <a:srgbClr val="1B2B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956816"/>
            <a:ext cx="4745736" cy="365760"/>
          </a:xfrm>
          <a:prstGeom prst="rect">
            <a:avLst/>
          </a:prstGeom>
          <a:noFill/>
        </p:spPr>
        <p:txBody>
          <a:bodyPr wrap="square" anchor="ctr">
            <a:spAutoFit/>
          </a:bodyPr>
          <a:lstStyle/>
          <a:p>
            <a:pPr algn="l">
              <a:defRPr sz="1900" b="1">
                <a:solidFill>
                  <a:srgbClr val="1B2B4B"/>
                </a:solidFill>
                <a:latin typeface="Aptos"/>
              </a:defRPr>
            </a:pPr>
            <a:r>
              <a:t>TRADITIONAL PROGRAMMING</a:t>
            </a:r>
          </a:p>
        </p:txBody>
      </p:sp>
      <p:sp>
        <p:nvSpPr>
          <p:cNvPr id="10" name="TextBox 9"/>
          <p:cNvSpPr txBox="1"/>
          <p:nvPr/>
        </p:nvSpPr>
        <p:spPr>
          <a:xfrm>
            <a:off x="896112" y="2395728"/>
            <a:ext cx="4745736" cy="1618487"/>
          </a:xfrm>
          <a:prstGeom prst="rect">
            <a:avLst/>
          </a:prstGeom>
          <a:noFill/>
        </p:spPr>
        <p:txBody>
          <a:bodyPr wrap="square" anchor="ctr">
            <a:spAutoFit/>
          </a:bodyPr>
          <a:lstStyle/>
          <a:p>
            <a:pPr algn="l">
              <a:defRPr sz="1600" b="0">
                <a:solidFill>
                  <a:srgbClr val="282C34"/>
                </a:solidFill>
                <a:latin typeface="Aptos"/>
              </a:defRPr>
            </a:pPr>
            <a:r>
              <a:t>Human writes rules + computer receives data</a:t>
            </a:r>
            <a:br/>
            <a:br/>
            <a:r>
              <a:t>Rules + Data → Output</a:t>
            </a:r>
          </a:p>
        </p:txBody>
      </p:sp>
      <p:sp>
        <p:nvSpPr>
          <p:cNvPr id="11" name="Rounded Rectangle 10"/>
          <p:cNvSpPr/>
          <p:nvPr/>
        </p:nvSpPr>
        <p:spPr>
          <a:xfrm>
            <a:off x="6355080" y="1828800"/>
            <a:ext cx="5074920" cy="2331720"/>
          </a:xfrm>
          <a:prstGeom prst="roundRect">
            <a:avLst/>
          </a:prstGeom>
          <a:solidFill>
            <a:srgbClr val="E7F6F4"/>
          </a:solidFill>
          <a:ln w="15240">
            <a:solidFill>
              <a:srgbClr val="2089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9672" y="1956816"/>
            <a:ext cx="4745736" cy="365760"/>
          </a:xfrm>
          <a:prstGeom prst="rect">
            <a:avLst/>
          </a:prstGeom>
          <a:noFill/>
        </p:spPr>
        <p:txBody>
          <a:bodyPr wrap="square" anchor="ctr">
            <a:spAutoFit/>
          </a:bodyPr>
          <a:lstStyle/>
          <a:p>
            <a:pPr algn="l">
              <a:defRPr sz="1900" b="1">
                <a:solidFill>
                  <a:srgbClr val="208984"/>
                </a:solidFill>
                <a:latin typeface="Aptos"/>
              </a:defRPr>
            </a:pPr>
            <a:r>
              <a:t>MACHINE LEARNING</a:t>
            </a:r>
          </a:p>
        </p:txBody>
      </p:sp>
      <p:sp>
        <p:nvSpPr>
          <p:cNvPr id="13" name="TextBox 12"/>
          <p:cNvSpPr txBox="1"/>
          <p:nvPr/>
        </p:nvSpPr>
        <p:spPr>
          <a:xfrm>
            <a:off x="6519672" y="2395728"/>
            <a:ext cx="4745736" cy="1618487"/>
          </a:xfrm>
          <a:prstGeom prst="rect">
            <a:avLst/>
          </a:prstGeom>
          <a:noFill/>
        </p:spPr>
        <p:txBody>
          <a:bodyPr wrap="square" anchor="ctr">
            <a:spAutoFit/>
          </a:bodyPr>
          <a:lstStyle/>
          <a:p>
            <a:pPr algn="l">
              <a:defRPr sz="1600" b="0">
                <a:solidFill>
                  <a:srgbClr val="282C34"/>
                </a:solidFill>
                <a:latin typeface="Aptos"/>
              </a:defRPr>
            </a:pPr>
            <a:r>
              <a:t>Computer receives examples and learns a model</a:t>
            </a:r>
            <a:br/>
            <a:br/>
            <a:r>
              <a:t>Data + Examples → Learned model → Output</a:t>
            </a:r>
          </a:p>
        </p:txBody>
      </p:sp>
      <p:sp>
        <p:nvSpPr>
          <p:cNvPr id="14" name="TextBox 13"/>
          <p:cNvSpPr txBox="1"/>
          <p:nvPr/>
        </p:nvSpPr>
        <p:spPr>
          <a:xfrm>
            <a:off x="1005840" y="4800600"/>
            <a:ext cx="10058400" cy="502920"/>
          </a:xfrm>
          <a:prstGeom prst="rect">
            <a:avLst/>
          </a:prstGeom>
          <a:noFill/>
        </p:spPr>
        <p:txBody>
          <a:bodyPr wrap="square" anchor="ctr">
            <a:spAutoFit/>
          </a:bodyPr>
          <a:lstStyle/>
          <a:p>
            <a:pPr algn="ctr">
              <a:defRPr sz="1800" b="1">
                <a:solidFill>
                  <a:srgbClr val="1B2B4B"/>
                </a:solidFill>
                <a:latin typeface="Aptos"/>
              </a:defRPr>
            </a:pPr>
            <a:r>
              <a:t>Key idea: In ML, we do not manually write every decision rule.</a:t>
            </a:r>
          </a:p>
        </p:txBody>
      </p:sp>
      <p:sp>
        <p:nvSpPr>
          <p:cNvPr id="15" name="TextBox 14"/>
          <p:cNvSpPr txBox="1"/>
          <p:nvPr/>
        </p:nvSpPr>
        <p:spPr>
          <a:xfrm>
            <a:off x="594360" y="6446520"/>
            <a:ext cx="5486400" cy="228600"/>
          </a:xfrm>
          <a:prstGeom prst="rect">
            <a:avLst/>
          </a:prstGeom>
          <a:noFill/>
        </p:spPr>
        <p:txBody>
          <a:bodyPr wrap="square" anchor="ctr">
            <a:spAutoFit/>
          </a:bodyPr>
          <a:lstStyle/>
          <a:p>
            <a:pPr algn="l">
              <a:defRPr sz="800" b="0">
                <a:solidFill>
                  <a:srgbClr val="69707C"/>
                </a:solidFill>
                <a:latin typeface="Aptos"/>
              </a:defRPr>
            </a:pPr>
            <a:r>
              <a:t>AI &amp; Machine Learning • Classroom Deck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256032"/>
            <a:ext cx="1417320" cy="384048"/>
          </a:xfrm>
          <a:prstGeom prst="roundRect">
            <a:avLst/>
          </a:prstGeom>
          <a:solidFill>
            <a:srgbClr val="7153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265176"/>
            <a:ext cx="1362456" cy="347472"/>
          </a:xfrm>
          <a:prstGeom prst="rect">
            <a:avLst/>
          </a:prstGeom>
          <a:noFill/>
        </p:spPr>
        <p:txBody>
          <a:bodyPr wrap="square" anchor="ctr">
            <a:spAutoFit/>
          </a:bodyPr>
          <a:lstStyle/>
          <a:p>
            <a:pPr algn="ctr">
              <a:defRPr sz="1000" b="1">
                <a:solidFill>
                  <a:srgbClr val="FFFFFF"/>
                </a:solidFill>
                <a:latin typeface="Aptos"/>
              </a:defRPr>
            </a:pPr>
            <a:r>
              <a:t>THEORY</a:t>
            </a:r>
          </a:p>
        </p:txBody>
      </p:sp>
      <p:sp>
        <p:nvSpPr>
          <p:cNvPr id="5" name="TextBox 4"/>
          <p:cNvSpPr txBox="1"/>
          <p:nvPr/>
        </p:nvSpPr>
        <p:spPr>
          <a:xfrm>
            <a:off x="594360" y="749808"/>
            <a:ext cx="10972800" cy="621792"/>
          </a:xfrm>
          <a:prstGeom prst="rect">
            <a:avLst/>
          </a:prstGeom>
          <a:noFill/>
        </p:spPr>
        <p:txBody>
          <a:bodyPr wrap="square" anchor="ctr">
            <a:spAutoFit/>
          </a:bodyPr>
          <a:lstStyle/>
          <a:p>
            <a:pPr algn="l">
              <a:defRPr sz="2900" b="1">
                <a:solidFill>
                  <a:srgbClr val="1B2B4B"/>
                </a:solidFill>
                <a:latin typeface="Aptos Display"/>
              </a:defRPr>
            </a:pPr>
            <a:r>
              <a:t>AI vs ML vs Deep Learning</a:t>
            </a:r>
          </a:p>
        </p:txBody>
      </p:sp>
      <p:sp>
        <p:nvSpPr>
          <p:cNvPr id="6" name="TextBox 5"/>
          <p:cNvSpPr txBox="1"/>
          <p:nvPr/>
        </p:nvSpPr>
        <p:spPr>
          <a:xfrm>
            <a:off x="621792" y="1353312"/>
            <a:ext cx="10789920" cy="384048"/>
          </a:xfrm>
          <a:prstGeom prst="rect">
            <a:avLst/>
          </a:prstGeom>
          <a:noFill/>
        </p:spPr>
        <p:txBody>
          <a:bodyPr wrap="square" anchor="ctr">
            <a:spAutoFit/>
          </a:bodyPr>
          <a:lstStyle/>
          <a:p>
            <a:pPr algn="l">
              <a:defRPr sz="1300" b="0">
                <a:solidFill>
                  <a:srgbClr val="69707C"/>
                </a:solidFill>
                <a:latin typeface="Aptos"/>
              </a:defRPr>
            </a:pPr>
            <a:r>
              <a:t>AI is the broad field; ML is one approach inside AI.</a:t>
            </a:r>
          </a:p>
        </p:txBody>
      </p:sp>
      <p:sp>
        <p:nvSpPr>
          <p:cNvPr id="7" name="TextBox 6"/>
          <p:cNvSpPr txBox="1"/>
          <p:nvPr/>
        </p:nvSpPr>
        <p:spPr>
          <a:xfrm>
            <a:off x="11155680" y="292608"/>
            <a:ext cx="457200" cy="274320"/>
          </a:xfrm>
          <a:prstGeom prst="rect">
            <a:avLst/>
          </a:prstGeom>
          <a:noFill/>
        </p:spPr>
        <p:txBody>
          <a:bodyPr wrap="square" anchor="ctr">
            <a:spAutoFit/>
          </a:bodyPr>
          <a:lstStyle/>
          <a:p>
            <a:pPr algn="r">
              <a:defRPr sz="900" b="1">
                <a:solidFill>
                  <a:srgbClr val="69707C"/>
                </a:solidFill>
                <a:latin typeface="Aptos"/>
              </a:defRPr>
            </a:pPr>
            <a:r>
              <a:t>08</a:t>
            </a:r>
          </a:p>
        </p:txBody>
      </p:sp>
      <p:sp>
        <p:nvSpPr>
          <p:cNvPr id="8" name="Rounded Rectangle 7"/>
          <p:cNvSpPr/>
          <p:nvPr/>
        </p:nvSpPr>
        <p:spPr>
          <a:xfrm>
            <a:off x="685800" y="1828800"/>
            <a:ext cx="10789920" cy="3474720"/>
          </a:xfrm>
          <a:prstGeom prst="roundRect">
            <a:avLst/>
          </a:prstGeom>
          <a:solidFill>
            <a:srgbClr val="FFFFFF"/>
          </a:solidFill>
          <a:ln w="15240">
            <a:solidFill>
              <a:srgbClr val="1B2B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956816"/>
            <a:ext cx="10460736" cy="365760"/>
          </a:xfrm>
          <a:prstGeom prst="rect">
            <a:avLst/>
          </a:prstGeom>
          <a:noFill/>
        </p:spPr>
        <p:txBody>
          <a:bodyPr wrap="square" anchor="ctr">
            <a:spAutoFit/>
          </a:bodyPr>
          <a:lstStyle/>
          <a:p>
            <a:pPr algn="l">
              <a:defRPr sz="2000" b="1">
                <a:solidFill>
                  <a:srgbClr val="1B2B4B"/>
                </a:solidFill>
                <a:latin typeface="Aptos"/>
              </a:defRPr>
            </a:pPr>
            <a:r>
              <a:t>ARTIFICIAL INTELLIGENCE</a:t>
            </a:r>
          </a:p>
        </p:txBody>
      </p:sp>
      <p:sp>
        <p:nvSpPr>
          <p:cNvPr id="10" name="TextBox 9"/>
          <p:cNvSpPr txBox="1"/>
          <p:nvPr/>
        </p:nvSpPr>
        <p:spPr>
          <a:xfrm>
            <a:off x="850392" y="2395728"/>
            <a:ext cx="10460736" cy="2761487"/>
          </a:xfrm>
          <a:prstGeom prst="rect">
            <a:avLst/>
          </a:prstGeom>
          <a:noFill/>
        </p:spPr>
        <p:txBody>
          <a:bodyPr wrap="square" anchor="ctr">
            <a:spAutoFit/>
          </a:bodyPr>
          <a:lstStyle/>
          <a:p>
            <a:pPr algn="l">
              <a:defRPr sz="1600" b="0">
                <a:solidFill>
                  <a:srgbClr val="282C34"/>
                </a:solidFill>
                <a:latin typeface="Aptos"/>
              </a:defRPr>
            </a:pPr>
            <a:r>
              <a:t>The broad field of creating intelligent systems.</a:t>
            </a:r>
          </a:p>
        </p:txBody>
      </p:sp>
      <p:sp>
        <p:nvSpPr>
          <p:cNvPr id="11" name="Rounded Rectangle 10"/>
          <p:cNvSpPr/>
          <p:nvPr/>
        </p:nvSpPr>
        <p:spPr>
          <a:xfrm>
            <a:off x="1828800" y="2514600"/>
            <a:ext cx="8503920" cy="2331720"/>
          </a:xfrm>
          <a:prstGeom prst="roundRect">
            <a:avLst/>
          </a:prstGeom>
          <a:solidFill>
            <a:srgbClr val="E8F0F9"/>
          </a:solidFill>
          <a:ln w="1524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93392" y="2642616"/>
            <a:ext cx="8174736" cy="365760"/>
          </a:xfrm>
          <a:prstGeom prst="rect">
            <a:avLst/>
          </a:prstGeom>
          <a:noFill/>
        </p:spPr>
        <p:txBody>
          <a:bodyPr wrap="square" anchor="ctr">
            <a:spAutoFit/>
          </a:bodyPr>
          <a:lstStyle/>
          <a:p>
            <a:pPr algn="l">
              <a:defRPr sz="1800" b="1">
                <a:solidFill>
                  <a:srgbClr val="2B6CB0"/>
                </a:solidFill>
                <a:latin typeface="Aptos"/>
              </a:defRPr>
            </a:pPr>
            <a:r>
              <a:t>MACHINE LEARNING</a:t>
            </a:r>
          </a:p>
        </p:txBody>
      </p:sp>
      <p:sp>
        <p:nvSpPr>
          <p:cNvPr id="13" name="TextBox 12"/>
          <p:cNvSpPr txBox="1"/>
          <p:nvPr/>
        </p:nvSpPr>
        <p:spPr>
          <a:xfrm>
            <a:off x="1993392" y="3081528"/>
            <a:ext cx="8174736" cy="1618487"/>
          </a:xfrm>
          <a:prstGeom prst="rect">
            <a:avLst/>
          </a:prstGeom>
          <a:noFill/>
        </p:spPr>
        <p:txBody>
          <a:bodyPr wrap="square" anchor="ctr">
            <a:spAutoFit/>
          </a:bodyPr>
          <a:lstStyle/>
          <a:p>
            <a:pPr algn="l">
              <a:defRPr sz="1500" b="0">
                <a:solidFill>
                  <a:srgbClr val="282C34"/>
                </a:solidFill>
                <a:latin typeface="Aptos"/>
              </a:defRPr>
            </a:pPr>
            <a:r>
              <a:t>A subset of AI that learns patterns from data.</a:t>
            </a:r>
          </a:p>
        </p:txBody>
      </p:sp>
      <p:sp>
        <p:nvSpPr>
          <p:cNvPr id="14" name="Rounded Rectangle 13"/>
          <p:cNvSpPr/>
          <p:nvPr/>
        </p:nvSpPr>
        <p:spPr>
          <a:xfrm>
            <a:off x="2971800" y="3246120"/>
            <a:ext cx="6217920" cy="1325880"/>
          </a:xfrm>
          <a:prstGeom prst="roundRect">
            <a:avLst/>
          </a:prstGeom>
          <a:solidFill>
            <a:srgbClr val="FBEFE1"/>
          </a:solidFill>
          <a:ln w="15240">
            <a:solidFill>
              <a:srgbClr val="E28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36392" y="3374136"/>
            <a:ext cx="5888736" cy="365760"/>
          </a:xfrm>
          <a:prstGeom prst="rect">
            <a:avLst/>
          </a:prstGeom>
          <a:noFill/>
        </p:spPr>
        <p:txBody>
          <a:bodyPr wrap="square" anchor="ctr">
            <a:spAutoFit/>
          </a:bodyPr>
          <a:lstStyle/>
          <a:p>
            <a:pPr algn="l">
              <a:defRPr sz="1600" b="1">
                <a:solidFill>
                  <a:srgbClr val="E28431"/>
                </a:solidFill>
                <a:latin typeface="Aptos"/>
              </a:defRPr>
            </a:pPr>
            <a:r>
              <a:t>DEEP LEARNING</a:t>
            </a:r>
          </a:p>
        </p:txBody>
      </p:sp>
      <p:sp>
        <p:nvSpPr>
          <p:cNvPr id="16" name="TextBox 15"/>
          <p:cNvSpPr txBox="1"/>
          <p:nvPr/>
        </p:nvSpPr>
        <p:spPr>
          <a:xfrm>
            <a:off x="3136392" y="3813048"/>
            <a:ext cx="5888736" cy="612647"/>
          </a:xfrm>
          <a:prstGeom prst="rect">
            <a:avLst/>
          </a:prstGeom>
          <a:noFill/>
        </p:spPr>
        <p:txBody>
          <a:bodyPr wrap="square" anchor="ctr">
            <a:spAutoFit/>
          </a:bodyPr>
          <a:lstStyle/>
          <a:p>
            <a:pPr algn="l">
              <a:defRPr sz="1400" b="0">
                <a:solidFill>
                  <a:srgbClr val="282C34"/>
                </a:solidFill>
                <a:latin typeface="Aptos"/>
              </a:defRPr>
            </a:pPr>
            <a:r>
              <a:t>A subset of ML based on multi-layer neural networks.</a:t>
            </a:r>
          </a:p>
        </p:txBody>
      </p:sp>
      <p:sp>
        <p:nvSpPr>
          <p:cNvPr id="17" name="TextBox 16"/>
          <p:cNvSpPr txBox="1"/>
          <p:nvPr/>
        </p:nvSpPr>
        <p:spPr>
          <a:xfrm>
            <a:off x="594360" y="6446520"/>
            <a:ext cx="5486400" cy="228600"/>
          </a:xfrm>
          <a:prstGeom prst="rect">
            <a:avLst/>
          </a:prstGeom>
          <a:noFill/>
        </p:spPr>
        <p:txBody>
          <a:bodyPr wrap="square" anchor="ctr">
            <a:spAutoFit/>
          </a:bodyPr>
          <a:lstStyle/>
          <a:p>
            <a:pPr algn="l">
              <a:defRPr sz="800" b="0">
                <a:solidFill>
                  <a:srgbClr val="69707C"/>
                </a:solidFill>
                <a:latin typeface="Aptos"/>
              </a:defRPr>
            </a:pPr>
            <a:r>
              <a:t>AI &amp; Machine Learning • Classroom Deck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256032"/>
            <a:ext cx="1417320" cy="384048"/>
          </a:xfrm>
          <a:prstGeom prst="roundRect">
            <a:avLst/>
          </a:prstGeom>
          <a:solidFill>
            <a:srgbClr val="7153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265176"/>
            <a:ext cx="1362456" cy="347472"/>
          </a:xfrm>
          <a:prstGeom prst="rect">
            <a:avLst/>
          </a:prstGeom>
          <a:noFill/>
        </p:spPr>
        <p:txBody>
          <a:bodyPr wrap="square" anchor="ctr">
            <a:spAutoFit/>
          </a:bodyPr>
          <a:lstStyle/>
          <a:p>
            <a:pPr algn="ctr">
              <a:defRPr sz="1000" b="1">
                <a:solidFill>
                  <a:srgbClr val="FFFFFF"/>
                </a:solidFill>
                <a:latin typeface="Aptos"/>
              </a:defRPr>
            </a:pPr>
            <a:r>
              <a:t>THEORY</a:t>
            </a:r>
          </a:p>
        </p:txBody>
      </p:sp>
      <p:sp>
        <p:nvSpPr>
          <p:cNvPr id="5" name="TextBox 4"/>
          <p:cNvSpPr txBox="1"/>
          <p:nvPr/>
        </p:nvSpPr>
        <p:spPr>
          <a:xfrm>
            <a:off x="594360" y="749808"/>
            <a:ext cx="10972800" cy="621792"/>
          </a:xfrm>
          <a:prstGeom prst="rect">
            <a:avLst/>
          </a:prstGeom>
          <a:noFill/>
        </p:spPr>
        <p:txBody>
          <a:bodyPr wrap="square" anchor="ctr">
            <a:spAutoFit/>
          </a:bodyPr>
          <a:lstStyle/>
          <a:p>
            <a:pPr algn="l">
              <a:defRPr sz="2900" b="1">
                <a:solidFill>
                  <a:srgbClr val="1B2B4B"/>
                </a:solidFill>
                <a:latin typeface="Aptos Display"/>
              </a:defRPr>
            </a:pPr>
            <a:r>
              <a:t>Types of Machine Learning</a:t>
            </a:r>
          </a:p>
        </p:txBody>
      </p:sp>
      <p:sp>
        <p:nvSpPr>
          <p:cNvPr id="6" name="TextBox 5"/>
          <p:cNvSpPr txBox="1"/>
          <p:nvPr/>
        </p:nvSpPr>
        <p:spPr>
          <a:xfrm>
            <a:off x="621792" y="1353312"/>
            <a:ext cx="10789920" cy="384048"/>
          </a:xfrm>
          <a:prstGeom prst="rect">
            <a:avLst/>
          </a:prstGeom>
          <a:noFill/>
        </p:spPr>
        <p:txBody>
          <a:bodyPr wrap="square" anchor="ctr">
            <a:spAutoFit/>
          </a:bodyPr>
          <a:lstStyle/>
          <a:p>
            <a:pPr algn="l">
              <a:defRPr sz="1300" b="0">
                <a:solidFill>
                  <a:srgbClr val="69707C"/>
                </a:solidFill>
                <a:latin typeface="Aptos"/>
              </a:defRPr>
            </a:pPr>
            <a:r>
              <a:t>The learning setup depends on the feedback available to the model.</a:t>
            </a:r>
          </a:p>
        </p:txBody>
      </p:sp>
      <p:sp>
        <p:nvSpPr>
          <p:cNvPr id="7" name="TextBox 6"/>
          <p:cNvSpPr txBox="1"/>
          <p:nvPr/>
        </p:nvSpPr>
        <p:spPr>
          <a:xfrm>
            <a:off x="11155680" y="292608"/>
            <a:ext cx="457200" cy="274320"/>
          </a:xfrm>
          <a:prstGeom prst="rect">
            <a:avLst/>
          </a:prstGeom>
          <a:noFill/>
        </p:spPr>
        <p:txBody>
          <a:bodyPr wrap="square" anchor="ctr">
            <a:spAutoFit/>
          </a:bodyPr>
          <a:lstStyle/>
          <a:p>
            <a:pPr algn="r">
              <a:defRPr sz="900" b="1">
                <a:solidFill>
                  <a:srgbClr val="69707C"/>
                </a:solidFill>
                <a:latin typeface="Aptos"/>
              </a:defRPr>
            </a:pPr>
            <a:r>
              <a:t>09</a:t>
            </a:r>
          </a:p>
        </p:txBody>
      </p:sp>
      <p:sp>
        <p:nvSpPr>
          <p:cNvPr id="8" name="Rounded Rectangle 7"/>
          <p:cNvSpPr/>
          <p:nvPr/>
        </p:nvSpPr>
        <p:spPr>
          <a:xfrm>
            <a:off x="594360" y="1783080"/>
            <a:ext cx="3520440" cy="3657600"/>
          </a:xfrm>
          <a:prstGeom prst="roundRect">
            <a:avLst/>
          </a:prstGeom>
          <a:solidFill>
            <a:srgbClr val="E8F0F9"/>
          </a:solidFill>
          <a:ln w="1524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911095"/>
            <a:ext cx="3191256" cy="365760"/>
          </a:xfrm>
          <a:prstGeom prst="rect">
            <a:avLst/>
          </a:prstGeom>
          <a:noFill/>
        </p:spPr>
        <p:txBody>
          <a:bodyPr wrap="square" anchor="ctr">
            <a:spAutoFit/>
          </a:bodyPr>
          <a:lstStyle/>
          <a:p>
            <a:pPr algn="l">
              <a:defRPr sz="1800" b="1">
                <a:solidFill>
                  <a:srgbClr val="2B6CB0"/>
                </a:solidFill>
                <a:latin typeface="Aptos"/>
              </a:defRPr>
            </a:pPr>
            <a:r>
              <a:t>SUPERVISED</a:t>
            </a:r>
          </a:p>
        </p:txBody>
      </p:sp>
      <p:sp>
        <p:nvSpPr>
          <p:cNvPr id="10" name="TextBox 9"/>
          <p:cNvSpPr txBox="1"/>
          <p:nvPr/>
        </p:nvSpPr>
        <p:spPr>
          <a:xfrm>
            <a:off x="758952" y="2350008"/>
            <a:ext cx="3191256" cy="2944368"/>
          </a:xfrm>
          <a:prstGeom prst="rect">
            <a:avLst/>
          </a:prstGeom>
          <a:noFill/>
        </p:spPr>
        <p:txBody>
          <a:bodyPr wrap="square" anchor="ctr">
            <a:spAutoFit/>
          </a:bodyPr>
          <a:lstStyle/>
          <a:p>
            <a:pPr algn="l">
              <a:defRPr sz="1500" b="0">
                <a:solidFill>
                  <a:srgbClr val="282C34"/>
                </a:solidFill>
                <a:latin typeface="Aptos"/>
              </a:defRPr>
            </a:pPr>
            <a:r>
              <a:t>Training data has inputs + known target labels.</a:t>
            </a:r>
            <a:br/>
            <a:br/>
            <a:r>
              <a:t>Example: customer data → churn Yes/No.</a:t>
            </a:r>
          </a:p>
        </p:txBody>
      </p:sp>
      <p:sp>
        <p:nvSpPr>
          <p:cNvPr id="11" name="Rounded Rectangle 10"/>
          <p:cNvSpPr/>
          <p:nvPr/>
        </p:nvSpPr>
        <p:spPr>
          <a:xfrm>
            <a:off x="4343400" y="1783080"/>
            <a:ext cx="3520440" cy="3657600"/>
          </a:xfrm>
          <a:prstGeom prst="roundRect">
            <a:avLst/>
          </a:prstGeom>
          <a:solidFill>
            <a:srgbClr val="E7F6F4"/>
          </a:solidFill>
          <a:ln w="15240">
            <a:solidFill>
              <a:srgbClr val="2089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7992" y="1911095"/>
            <a:ext cx="3191256" cy="365760"/>
          </a:xfrm>
          <a:prstGeom prst="rect">
            <a:avLst/>
          </a:prstGeom>
          <a:noFill/>
        </p:spPr>
        <p:txBody>
          <a:bodyPr wrap="square" anchor="ctr">
            <a:spAutoFit/>
          </a:bodyPr>
          <a:lstStyle/>
          <a:p>
            <a:pPr algn="l">
              <a:defRPr sz="1800" b="1">
                <a:solidFill>
                  <a:srgbClr val="208984"/>
                </a:solidFill>
                <a:latin typeface="Aptos"/>
              </a:defRPr>
            </a:pPr>
            <a:r>
              <a:t>UNSUPERVISED</a:t>
            </a:r>
          </a:p>
        </p:txBody>
      </p:sp>
      <p:sp>
        <p:nvSpPr>
          <p:cNvPr id="13" name="TextBox 12"/>
          <p:cNvSpPr txBox="1"/>
          <p:nvPr/>
        </p:nvSpPr>
        <p:spPr>
          <a:xfrm>
            <a:off x="4507992" y="2350008"/>
            <a:ext cx="3191256" cy="2944368"/>
          </a:xfrm>
          <a:prstGeom prst="rect">
            <a:avLst/>
          </a:prstGeom>
          <a:noFill/>
        </p:spPr>
        <p:txBody>
          <a:bodyPr wrap="square" anchor="ctr">
            <a:spAutoFit/>
          </a:bodyPr>
          <a:lstStyle/>
          <a:p>
            <a:pPr algn="l">
              <a:defRPr sz="1500" b="0">
                <a:solidFill>
                  <a:srgbClr val="282C34"/>
                </a:solidFill>
                <a:latin typeface="Aptos"/>
              </a:defRPr>
            </a:pPr>
            <a:r>
              <a:t>Training data has inputs but no target labels.</a:t>
            </a:r>
            <a:br/>
            <a:br/>
            <a:r>
              <a:t>Example: group customers by behavior.</a:t>
            </a:r>
          </a:p>
        </p:txBody>
      </p:sp>
      <p:sp>
        <p:nvSpPr>
          <p:cNvPr id="14" name="Rounded Rectangle 13"/>
          <p:cNvSpPr/>
          <p:nvPr/>
        </p:nvSpPr>
        <p:spPr>
          <a:xfrm>
            <a:off x="8092440" y="1783080"/>
            <a:ext cx="3520440" cy="3657600"/>
          </a:xfrm>
          <a:prstGeom prst="roundRect">
            <a:avLst/>
          </a:prstGeom>
          <a:solidFill>
            <a:srgbClr val="FBEFE1"/>
          </a:solidFill>
          <a:ln w="15240">
            <a:solidFill>
              <a:srgbClr val="E28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7031" y="1911095"/>
            <a:ext cx="3191256" cy="365760"/>
          </a:xfrm>
          <a:prstGeom prst="rect">
            <a:avLst/>
          </a:prstGeom>
          <a:noFill/>
        </p:spPr>
        <p:txBody>
          <a:bodyPr wrap="square" anchor="ctr">
            <a:spAutoFit/>
          </a:bodyPr>
          <a:lstStyle/>
          <a:p>
            <a:pPr algn="l">
              <a:defRPr sz="1800" b="1">
                <a:solidFill>
                  <a:srgbClr val="E28431"/>
                </a:solidFill>
                <a:latin typeface="Aptos"/>
              </a:defRPr>
            </a:pPr>
            <a:r>
              <a:t>REINFORCEMENT</a:t>
            </a:r>
          </a:p>
        </p:txBody>
      </p:sp>
      <p:sp>
        <p:nvSpPr>
          <p:cNvPr id="16" name="TextBox 15"/>
          <p:cNvSpPr txBox="1"/>
          <p:nvPr/>
        </p:nvSpPr>
        <p:spPr>
          <a:xfrm>
            <a:off x="8257031" y="2350008"/>
            <a:ext cx="3191256" cy="2944368"/>
          </a:xfrm>
          <a:prstGeom prst="rect">
            <a:avLst/>
          </a:prstGeom>
          <a:noFill/>
        </p:spPr>
        <p:txBody>
          <a:bodyPr wrap="square" anchor="ctr">
            <a:spAutoFit/>
          </a:bodyPr>
          <a:lstStyle/>
          <a:p>
            <a:pPr algn="l">
              <a:defRPr sz="1500" b="0">
                <a:solidFill>
                  <a:srgbClr val="282C34"/>
                </a:solidFill>
                <a:latin typeface="Aptos"/>
              </a:defRPr>
            </a:pPr>
            <a:r>
              <a:t>An agent learns through actions, rewards and interaction.</a:t>
            </a:r>
            <a:br/>
            <a:br/>
            <a:r>
              <a:t>Example: game-playing agent.</a:t>
            </a:r>
          </a:p>
        </p:txBody>
      </p:sp>
      <p:sp>
        <p:nvSpPr>
          <p:cNvPr id="17" name="TextBox 16"/>
          <p:cNvSpPr txBox="1"/>
          <p:nvPr/>
        </p:nvSpPr>
        <p:spPr>
          <a:xfrm>
            <a:off x="594360" y="6446520"/>
            <a:ext cx="5486400" cy="228600"/>
          </a:xfrm>
          <a:prstGeom prst="rect">
            <a:avLst/>
          </a:prstGeom>
          <a:noFill/>
        </p:spPr>
        <p:txBody>
          <a:bodyPr wrap="square" anchor="ctr">
            <a:spAutoFit/>
          </a:bodyPr>
          <a:lstStyle/>
          <a:p>
            <a:pPr algn="l">
              <a:defRPr sz="800" b="0">
                <a:solidFill>
                  <a:srgbClr val="69707C"/>
                </a:solidFill>
                <a:latin typeface="Aptos"/>
              </a:defRPr>
            </a:pPr>
            <a:r>
              <a:t>AI &amp; Machine Learning • Classroom Deck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256032"/>
            <a:ext cx="1417320" cy="384048"/>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265176"/>
            <a:ext cx="1362456" cy="347472"/>
          </a:xfrm>
          <a:prstGeom prst="rect">
            <a:avLst/>
          </a:prstGeom>
          <a:noFill/>
        </p:spPr>
        <p:txBody>
          <a:bodyPr wrap="square" anchor="ctr">
            <a:spAutoFit/>
          </a:bodyPr>
          <a:lstStyle/>
          <a:p>
            <a:pPr algn="ctr">
              <a:defRPr sz="1000" b="1">
                <a:solidFill>
                  <a:srgbClr val="FFFFFF"/>
                </a:solidFill>
                <a:latin typeface="Aptos"/>
              </a:defRPr>
            </a:pPr>
            <a:r>
              <a:t>THEORY</a:t>
            </a:r>
          </a:p>
        </p:txBody>
      </p:sp>
      <p:sp>
        <p:nvSpPr>
          <p:cNvPr id="5" name="TextBox 4"/>
          <p:cNvSpPr txBox="1"/>
          <p:nvPr/>
        </p:nvSpPr>
        <p:spPr>
          <a:xfrm>
            <a:off x="594360" y="749808"/>
            <a:ext cx="10972800" cy="621792"/>
          </a:xfrm>
          <a:prstGeom prst="rect">
            <a:avLst/>
          </a:prstGeom>
          <a:noFill/>
        </p:spPr>
        <p:txBody>
          <a:bodyPr wrap="square" anchor="ctr">
            <a:spAutoFit/>
          </a:bodyPr>
          <a:lstStyle/>
          <a:p>
            <a:pPr algn="l">
              <a:defRPr sz="2900" b="1">
                <a:solidFill>
                  <a:srgbClr val="1B2B4B"/>
                </a:solidFill>
                <a:latin typeface="Aptos Display"/>
              </a:defRPr>
            </a:pPr>
            <a:r>
              <a:t>Supervised learning</a:t>
            </a:r>
          </a:p>
        </p:txBody>
      </p:sp>
      <p:sp>
        <p:nvSpPr>
          <p:cNvPr id="6" name="TextBox 5"/>
          <p:cNvSpPr txBox="1"/>
          <p:nvPr/>
        </p:nvSpPr>
        <p:spPr>
          <a:xfrm>
            <a:off x="621792" y="1353312"/>
            <a:ext cx="10789920" cy="384048"/>
          </a:xfrm>
          <a:prstGeom prst="rect">
            <a:avLst/>
          </a:prstGeom>
          <a:noFill/>
        </p:spPr>
        <p:txBody>
          <a:bodyPr wrap="square" anchor="ctr">
            <a:spAutoFit/>
          </a:bodyPr>
          <a:lstStyle/>
          <a:p>
            <a:pPr algn="l">
              <a:defRPr sz="1300" b="0">
                <a:solidFill>
                  <a:srgbClr val="69707C"/>
                </a:solidFill>
                <a:latin typeface="Aptos"/>
              </a:defRPr>
            </a:pPr>
            <a:r>
              <a:t>The model learns from examples where the correct answer is known.</a:t>
            </a:r>
          </a:p>
        </p:txBody>
      </p:sp>
      <p:sp>
        <p:nvSpPr>
          <p:cNvPr id="7" name="TextBox 6"/>
          <p:cNvSpPr txBox="1"/>
          <p:nvPr/>
        </p:nvSpPr>
        <p:spPr>
          <a:xfrm>
            <a:off x="11155680" y="292608"/>
            <a:ext cx="457200" cy="274320"/>
          </a:xfrm>
          <a:prstGeom prst="rect">
            <a:avLst/>
          </a:prstGeom>
          <a:noFill/>
        </p:spPr>
        <p:txBody>
          <a:bodyPr wrap="square" anchor="ctr">
            <a:spAutoFit/>
          </a:bodyPr>
          <a:lstStyle/>
          <a:p>
            <a:pPr algn="r">
              <a:defRPr sz="900" b="1">
                <a:solidFill>
                  <a:srgbClr val="69707C"/>
                </a:solidFill>
                <a:latin typeface="Aptos"/>
              </a:defRPr>
            </a:pPr>
            <a:r>
              <a:t>10</a:t>
            </a:r>
          </a:p>
        </p:txBody>
      </p:sp>
      <p:sp>
        <p:nvSpPr>
          <p:cNvPr id="8" name="Rounded Rectangle 7"/>
          <p:cNvSpPr/>
          <p:nvPr/>
        </p:nvSpPr>
        <p:spPr>
          <a:xfrm>
            <a:off x="612648" y="2057400"/>
            <a:ext cx="2062886" cy="786384"/>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2167128"/>
            <a:ext cx="1989734" cy="566928"/>
          </a:xfrm>
          <a:prstGeom prst="rect">
            <a:avLst/>
          </a:prstGeom>
          <a:noFill/>
        </p:spPr>
        <p:txBody>
          <a:bodyPr wrap="square" anchor="ctr">
            <a:spAutoFit/>
          </a:bodyPr>
          <a:lstStyle/>
          <a:p>
            <a:pPr algn="ctr">
              <a:defRPr sz="1400" b="1">
                <a:solidFill>
                  <a:srgbClr val="FFFFFF"/>
                </a:solidFill>
                <a:latin typeface="Aptos"/>
              </a:defRPr>
            </a:pPr>
            <a:r>
              <a:t>Features (X)</a:t>
            </a:r>
          </a:p>
        </p:txBody>
      </p:sp>
      <p:sp>
        <p:nvSpPr>
          <p:cNvPr id="10" name="Rounded Rectangle 9"/>
          <p:cNvSpPr/>
          <p:nvPr/>
        </p:nvSpPr>
        <p:spPr>
          <a:xfrm>
            <a:off x="2840126" y="2057400"/>
            <a:ext cx="2062886" cy="786384"/>
          </a:xfrm>
          <a:prstGeom prst="roundRect">
            <a:avLst/>
          </a:prstGeom>
          <a:solidFill>
            <a:srgbClr val="2089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76702" y="2167128"/>
            <a:ext cx="1989734" cy="566928"/>
          </a:xfrm>
          <a:prstGeom prst="rect">
            <a:avLst/>
          </a:prstGeom>
          <a:noFill/>
        </p:spPr>
        <p:txBody>
          <a:bodyPr wrap="square" anchor="ctr">
            <a:spAutoFit/>
          </a:bodyPr>
          <a:lstStyle/>
          <a:p>
            <a:pPr algn="ctr">
              <a:defRPr sz="1400" b="1">
                <a:solidFill>
                  <a:srgbClr val="FFFFFF"/>
                </a:solidFill>
                <a:latin typeface="Aptos"/>
              </a:defRPr>
            </a:pPr>
            <a:r>
              <a:t>Known target (y)</a:t>
            </a:r>
          </a:p>
        </p:txBody>
      </p:sp>
      <p:sp>
        <p:nvSpPr>
          <p:cNvPr id="12" name="Rounded Rectangle 11"/>
          <p:cNvSpPr/>
          <p:nvPr/>
        </p:nvSpPr>
        <p:spPr>
          <a:xfrm>
            <a:off x="5067604" y="2057400"/>
            <a:ext cx="2062886" cy="786384"/>
          </a:xfrm>
          <a:prstGeom prst="roundRect">
            <a:avLst/>
          </a:prstGeom>
          <a:solidFill>
            <a:srgbClr val="1B2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04180" y="2167128"/>
            <a:ext cx="1989734" cy="566928"/>
          </a:xfrm>
          <a:prstGeom prst="rect">
            <a:avLst/>
          </a:prstGeom>
          <a:noFill/>
        </p:spPr>
        <p:txBody>
          <a:bodyPr wrap="square" anchor="ctr">
            <a:spAutoFit/>
          </a:bodyPr>
          <a:lstStyle/>
          <a:p>
            <a:pPr algn="ctr">
              <a:defRPr sz="1400" b="1">
                <a:solidFill>
                  <a:srgbClr val="FFFFFF"/>
                </a:solidFill>
                <a:latin typeface="Aptos"/>
              </a:defRPr>
            </a:pPr>
            <a:r>
              <a:t>Train</a:t>
            </a:r>
          </a:p>
        </p:txBody>
      </p:sp>
      <p:sp>
        <p:nvSpPr>
          <p:cNvPr id="14" name="Rounded Rectangle 13"/>
          <p:cNvSpPr/>
          <p:nvPr/>
        </p:nvSpPr>
        <p:spPr>
          <a:xfrm>
            <a:off x="7295083" y="2057400"/>
            <a:ext cx="2062886" cy="786384"/>
          </a:xfrm>
          <a:prstGeom prst="roundRect">
            <a:avLst/>
          </a:prstGeom>
          <a:solidFill>
            <a:srgbClr val="E284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31659" y="2167128"/>
            <a:ext cx="1989734" cy="566928"/>
          </a:xfrm>
          <a:prstGeom prst="rect">
            <a:avLst/>
          </a:prstGeom>
          <a:noFill/>
        </p:spPr>
        <p:txBody>
          <a:bodyPr wrap="square" anchor="ctr">
            <a:spAutoFit/>
          </a:bodyPr>
          <a:lstStyle/>
          <a:p>
            <a:pPr algn="ctr">
              <a:defRPr sz="1400" b="1">
                <a:solidFill>
                  <a:srgbClr val="FFFFFF"/>
                </a:solidFill>
                <a:latin typeface="Aptos"/>
              </a:defRPr>
            </a:pPr>
            <a:r>
              <a:t>Evaluate</a:t>
            </a:r>
          </a:p>
        </p:txBody>
      </p:sp>
      <p:sp>
        <p:nvSpPr>
          <p:cNvPr id="16" name="Rounded Rectangle 15"/>
          <p:cNvSpPr/>
          <p:nvPr/>
        </p:nvSpPr>
        <p:spPr>
          <a:xfrm>
            <a:off x="9522561" y="2057400"/>
            <a:ext cx="2062886" cy="786384"/>
          </a:xfrm>
          <a:prstGeom prst="roundRect">
            <a:avLst/>
          </a:prstGeom>
          <a:solidFill>
            <a:srgbClr val="378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59137" y="2167128"/>
            <a:ext cx="1989734" cy="566928"/>
          </a:xfrm>
          <a:prstGeom prst="rect">
            <a:avLst/>
          </a:prstGeom>
          <a:noFill/>
        </p:spPr>
        <p:txBody>
          <a:bodyPr wrap="square" anchor="ctr">
            <a:spAutoFit/>
          </a:bodyPr>
          <a:lstStyle/>
          <a:p>
            <a:pPr algn="ctr">
              <a:defRPr sz="1400" b="1">
                <a:solidFill>
                  <a:srgbClr val="FFFFFF"/>
                </a:solidFill>
                <a:latin typeface="Aptos"/>
              </a:defRPr>
            </a:pPr>
            <a:r>
              <a:t>Predict new y</a:t>
            </a:r>
          </a:p>
        </p:txBody>
      </p:sp>
      <p:sp>
        <p:nvSpPr>
          <p:cNvPr id="18" name="Rounded Rectangle 17"/>
          <p:cNvSpPr/>
          <p:nvPr/>
        </p:nvSpPr>
        <p:spPr>
          <a:xfrm>
            <a:off x="822960" y="3794760"/>
            <a:ext cx="3291840" cy="1417320"/>
          </a:xfrm>
          <a:prstGeom prst="roundRect">
            <a:avLst/>
          </a:prstGeom>
          <a:solidFill>
            <a:srgbClr val="E8F0F9"/>
          </a:solidFill>
          <a:ln w="1524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3922776"/>
            <a:ext cx="2962656" cy="365760"/>
          </a:xfrm>
          <a:prstGeom prst="rect">
            <a:avLst/>
          </a:prstGeom>
          <a:noFill/>
        </p:spPr>
        <p:txBody>
          <a:bodyPr wrap="square" anchor="ctr">
            <a:spAutoFit/>
          </a:bodyPr>
          <a:lstStyle/>
          <a:p>
            <a:pPr algn="l">
              <a:defRPr sz="1600" b="1">
                <a:solidFill>
                  <a:srgbClr val="2B6CB0"/>
                </a:solidFill>
                <a:latin typeface="Aptos"/>
              </a:defRPr>
            </a:pPr>
            <a:r>
              <a:t>CLASSIFICATION</a:t>
            </a:r>
          </a:p>
        </p:txBody>
      </p:sp>
      <p:sp>
        <p:nvSpPr>
          <p:cNvPr id="20" name="TextBox 19"/>
          <p:cNvSpPr txBox="1"/>
          <p:nvPr/>
        </p:nvSpPr>
        <p:spPr>
          <a:xfrm>
            <a:off x="987552" y="4361688"/>
            <a:ext cx="2962656" cy="704088"/>
          </a:xfrm>
          <a:prstGeom prst="rect">
            <a:avLst/>
          </a:prstGeom>
          <a:noFill/>
        </p:spPr>
        <p:txBody>
          <a:bodyPr wrap="square" anchor="ctr">
            <a:spAutoFit/>
          </a:bodyPr>
          <a:lstStyle/>
          <a:p>
            <a:pPr algn="l">
              <a:defRPr sz="1400" b="0">
                <a:solidFill>
                  <a:srgbClr val="282C34"/>
                </a:solidFill>
                <a:latin typeface="Aptos"/>
              </a:defRPr>
            </a:pPr>
            <a:r>
              <a:t>Target is a class/category.</a:t>
            </a:r>
          </a:p>
        </p:txBody>
      </p:sp>
      <p:sp>
        <p:nvSpPr>
          <p:cNvPr id="21" name="Rounded Rectangle 20"/>
          <p:cNvSpPr/>
          <p:nvPr/>
        </p:nvSpPr>
        <p:spPr>
          <a:xfrm>
            <a:off x="4434840" y="3794760"/>
            <a:ext cx="3291840" cy="1417320"/>
          </a:xfrm>
          <a:prstGeom prst="roundRect">
            <a:avLst/>
          </a:prstGeom>
          <a:solidFill>
            <a:srgbClr val="FBEFE1"/>
          </a:solidFill>
          <a:ln w="15240">
            <a:solidFill>
              <a:srgbClr val="E28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99431" y="3922776"/>
            <a:ext cx="2962656" cy="365760"/>
          </a:xfrm>
          <a:prstGeom prst="rect">
            <a:avLst/>
          </a:prstGeom>
          <a:noFill/>
        </p:spPr>
        <p:txBody>
          <a:bodyPr wrap="square" anchor="ctr">
            <a:spAutoFit/>
          </a:bodyPr>
          <a:lstStyle/>
          <a:p>
            <a:pPr algn="l">
              <a:defRPr sz="1600" b="1">
                <a:solidFill>
                  <a:srgbClr val="E28431"/>
                </a:solidFill>
                <a:latin typeface="Aptos"/>
              </a:defRPr>
            </a:pPr>
            <a:r>
              <a:t>REGRESSION</a:t>
            </a:r>
          </a:p>
        </p:txBody>
      </p:sp>
      <p:sp>
        <p:nvSpPr>
          <p:cNvPr id="23" name="TextBox 22"/>
          <p:cNvSpPr txBox="1"/>
          <p:nvPr/>
        </p:nvSpPr>
        <p:spPr>
          <a:xfrm>
            <a:off x="4599431" y="4361688"/>
            <a:ext cx="2962656" cy="704088"/>
          </a:xfrm>
          <a:prstGeom prst="rect">
            <a:avLst/>
          </a:prstGeom>
          <a:noFill/>
        </p:spPr>
        <p:txBody>
          <a:bodyPr wrap="square" anchor="ctr">
            <a:spAutoFit/>
          </a:bodyPr>
          <a:lstStyle/>
          <a:p>
            <a:pPr algn="l">
              <a:defRPr sz="1400" b="0">
                <a:solidFill>
                  <a:srgbClr val="282C34"/>
                </a:solidFill>
                <a:latin typeface="Aptos"/>
              </a:defRPr>
            </a:pPr>
            <a:r>
              <a:t>Target is a numerical value.</a:t>
            </a:r>
          </a:p>
        </p:txBody>
      </p:sp>
      <p:sp>
        <p:nvSpPr>
          <p:cNvPr id="24" name="Rounded Rectangle 23"/>
          <p:cNvSpPr/>
          <p:nvPr/>
        </p:nvSpPr>
        <p:spPr>
          <a:xfrm>
            <a:off x="8046720" y="3794760"/>
            <a:ext cx="3291840" cy="1417320"/>
          </a:xfrm>
          <a:prstGeom prst="roundRect">
            <a:avLst/>
          </a:prstGeom>
          <a:solidFill>
            <a:srgbClr val="F0EBF8"/>
          </a:solidFill>
          <a:ln w="15240">
            <a:solidFill>
              <a:srgbClr val="715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11312" y="3922776"/>
            <a:ext cx="2962656" cy="365760"/>
          </a:xfrm>
          <a:prstGeom prst="rect">
            <a:avLst/>
          </a:prstGeom>
          <a:noFill/>
        </p:spPr>
        <p:txBody>
          <a:bodyPr wrap="square" anchor="ctr">
            <a:spAutoFit/>
          </a:bodyPr>
          <a:lstStyle/>
          <a:p>
            <a:pPr algn="l">
              <a:defRPr sz="1600" b="1">
                <a:solidFill>
                  <a:srgbClr val="7153A8"/>
                </a:solidFill>
                <a:latin typeface="Aptos"/>
              </a:defRPr>
            </a:pPr>
            <a:r>
              <a:t>KEY QUESTION</a:t>
            </a:r>
          </a:p>
        </p:txBody>
      </p:sp>
      <p:sp>
        <p:nvSpPr>
          <p:cNvPr id="26" name="TextBox 25"/>
          <p:cNvSpPr txBox="1"/>
          <p:nvPr/>
        </p:nvSpPr>
        <p:spPr>
          <a:xfrm>
            <a:off x="8211312" y="4361688"/>
            <a:ext cx="2962656" cy="704088"/>
          </a:xfrm>
          <a:prstGeom prst="rect">
            <a:avLst/>
          </a:prstGeom>
          <a:noFill/>
        </p:spPr>
        <p:txBody>
          <a:bodyPr wrap="square" anchor="ctr">
            <a:spAutoFit/>
          </a:bodyPr>
          <a:lstStyle/>
          <a:p>
            <a:pPr algn="l">
              <a:defRPr sz="1400" b="0">
                <a:solidFill>
                  <a:srgbClr val="282C34"/>
                </a:solidFill>
                <a:latin typeface="Aptos"/>
              </a:defRPr>
            </a:pPr>
            <a:r>
              <a:t>What exactly are we trying to predict?</a:t>
            </a:r>
          </a:p>
        </p:txBody>
      </p:sp>
      <p:sp>
        <p:nvSpPr>
          <p:cNvPr id="27" name="TextBox 26"/>
          <p:cNvSpPr txBox="1"/>
          <p:nvPr/>
        </p:nvSpPr>
        <p:spPr>
          <a:xfrm>
            <a:off x="594360" y="6446520"/>
            <a:ext cx="5486400" cy="228600"/>
          </a:xfrm>
          <a:prstGeom prst="rect">
            <a:avLst/>
          </a:prstGeom>
          <a:noFill/>
        </p:spPr>
        <p:txBody>
          <a:bodyPr wrap="square" anchor="ctr">
            <a:spAutoFit/>
          </a:bodyPr>
          <a:lstStyle/>
          <a:p>
            <a:pPr algn="l">
              <a:defRPr sz="800" b="0">
                <a:solidFill>
                  <a:srgbClr val="69707C"/>
                </a:solidFill>
                <a:latin typeface="Aptos"/>
              </a:defRPr>
            </a:pPr>
            <a:r>
              <a:t>AI &amp; Machine Learning • Classroom Deck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256032"/>
            <a:ext cx="1417320" cy="384048"/>
          </a:xfrm>
          <a:prstGeom prst="roundRect">
            <a:avLst/>
          </a:prstGeom>
          <a:solidFill>
            <a:srgbClr val="E284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265176"/>
            <a:ext cx="1362456" cy="347472"/>
          </a:xfrm>
          <a:prstGeom prst="rect">
            <a:avLst/>
          </a:prstGeom>
          <a:noFill/>
        </p:spPr>
        <p:txBody>
          <a:bodyPr wrap="square" anchor="ctr">
            <a:spAutoFit/>
          </a:bodyPr>
          <a:lstStyle/>
          <a:p>
            <a:pPr algn="ctr">
              <a:defRPr sz="1000" b="1">
                <a:solidFill>
                  <a:srgbClr val="FFFFFF"/>
                </a:solidFill>
                <a:latin typeface="Aptos"/>
              </a:defRPr>
            </a:pPr>
            <a:r>
              <a:t>THEORY</a:t>
            </a:r>
          </a:p>
        </p:txBody>
      </p:sp>
      <p:sp>
        <p:nvSpPr>
          <p:cNvPr id="5" name="TextBox 4"/>
          <p:cNvSpPr txBox="1"/>
          <p:nvPr/>
        </p:nvSpPr>
        <p:spPr>
          <a:xfrm>
            <a:off x="594360" y="749808"/>
            <a:ext cx="10972800" cy="621792"/>
          </a:xfrm>
          <a:prstGeom prst="rect">
            <a:avLst/>
          </a:prstGeom>
          <a:noFill/>
        </p:spPr>
        <p:txBody>
          <a:bodyPr wrap="square" anchor="ctr">
            <a:spAutoFit/>
          </a:bodyPr>
          <a:lstStyle/>
          <a:p>
            <a:pPr algn="l">
              <a:defRPr sz="2900" b="1">
                <a:solidFill>
                  <a:srgbClr val="1B2B4B"/>
                </a:solidFill>
                <a:latin typeface="Aptos Display"/>
              </a:defRPr>
            </a:pPr>
            <a:r>
              <a:t>Classification vs Regression</a:t>
            </a:r>
          </a:p>
        </p:txBody>
      </p:sp>
      <p:sp>
        <p:nvSpPr>
          <p:cNvPr id="6" name="TextBox 5"/>
          <p:cNvSpPr txBox="1"/>
          <p:nvPr/>
        </p:nvSpPr>
        <p:spPr>
          <a:xfrm>
            <a:off x="621792" y="1353312"/>
            <a:ext cx="10789920" cy="384048"/>
          </a:xfrm>
          <a:prstGeom prst="rect">
            <a:avLst/>
          </a:prstGeom>
          <a:noFill/>
        </p:spPr>
        <p:txBody>
          <a:bodyPr wrap="square" anchor="ctr">
            <a:spAutoFit/>
          </a:bodyPr>
          <a:lstStyle/>
          <a:p>
            <a:pPr algn="l">
              <a:defRPr sz="1300" b="0">
                <a:solidFill>
                  <a:srgbClr val="69707C"/>
                </a:solidFill>
                <a:latin typeface="Aptos"/>
              </a:defRPr>
            </a:pPr>
            <a:r>
              <a:t>Look at the type of target variable.</a:t>
            </a:r>
          </a:p>
        </p:txBody>
      </p:sp>
      <p:sp>
        <p:nvSpPr>
          <p:cNvPr id="7" name="TextBox 6"/>
          <p:cNvSpPr txBox="1"/>
          <p:nvPr/>
        </p:nvSpPr>
        <p:spPr>
          <a:xfrm>
            <a:off x="11155680" y="292608"/>
            <a:ext cx="457200" cy="274320"/>
          </a:xfrm>
          <a:prstGeom prst="rect">
            <a:avLst/>
          </a:prstGeom>
          <a:noFill/>
        </p:spPr>
        <p:txBody>
          <a:bodyPr wrap="square" anchor="ctr">
            <a:spAutoFit/>
          </a:bodyPr>
          <a:lstStyle/>
          <a:p>
            <a:pPr algn="r">
              <a:defRPr sz="900" b="1">
                <a:solidFill>
                  <a:srgbClr val="69707C"/>
                </a:solidFill>
                <a:latin typeface="Aptos"/>
              </a:defRPr>
            </a:pPr>
            <a:r>
              <a:t>11</a:t>
            </a:r>
          </a:p>
        </p:txBody>
      </p:sp>
      <p:sp>
        <p:nvSpPr>
          <p:cNvPr id="8" name="Rounded Rectangle 7"/>
          <p:cNvSpPr/>
          <p:nvPr/>
        </p:nvSpPr>
        <p:spPr>
          <a:xfrm>
            <a:off x="640080" y="1783080"/>
            <a:ext cx="5257800" cy="3794760"/>
          </a:xfrm>
          <a:prstGeom prst="roundRect">
            <a:avLst/>
          </a:prstGeom>
          <a:solidFill>
            <a:srgbClr val="E8F0F9"/>
          </a:solidFill>
          <a:ln w="1524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1911095"/>
            <a:ext cx="4928616" cy="365760"/>
          </a:xfrm>
          <a:prstGeom prst="rect">
            <a:avLst/>
          </a:prstGeom>
          <a:noFill/>
        </p:spPr>
        <p:txBody>
          <a:bodyPr wrap="square" anchor="ctr">
            <a:spAutoFit/>
          </a:bodyPr>
          <a:lstStyle/>
          <a:p>
            <a:pPr algn="l">
              <a:defRPr sz="2000" b="1">
                <a:solidFill>
                  <a:srgbClr val="2B6CB0"/>
                </a:solidFill>
                <a:latin typeface="Aptos"/>
              </a:defRPr>
            </a:pPr>
            <a:r>
              <a:t>CLASSIFICATION</a:t>
            </a:r>
          </a:p>
        </p:txBody>
      </p:sp>
      <p:sp>
        <p:nvSpPr>
          <p:cNvPr id="10" name="TextBox 9"/>
          <p:cNvSpPr txBox="1"/>
          <p:nvPr/>
        </p:nvSpPr>
        <p:spPr>
          <a:xfrm>
            <a:off x="804671" y="2350008"/>
            <a:ext cx="4928616" cy="3081528"/>
          </a:xfrm>
          <a:prstGeom prst="rect">
            <a:avLst/>
          </a:prstGeom>
          <a:noFill/>
        </p:spPr>
        <p:txBody>
          <a:bodyPr wrap="square" anchor="ctr">
            <a:spAutoFit/>
          </a:bodyPr>
          <a:lstStyle/>
          <a:p>
            <a:pPr algn="l">
              <a:defRPr sz="1600" b="0">
                <a:solidFill>
                  <a:srgbClr val="282C34"/>
                </a:solidFill>
                <a:latin typeface="Aptos"/>
              </a:defRPr>
            </a:pPr>
            <a:r>
              <a:t>Predict a category.</a:t>
            </a:r>
            <a:br/>
            <a:br/>
            <a:r>
              <a:t>• Spam / Not spam</a:t>
            </a:r>
            <a:br/>
            <a:r>
              <a:t>• Fraud / Not fraud</a:t>
            </a:r>
            <a:br/>
            <a:r>
              <a:t>• Cat / Dog / Bird</a:t>
            </a:r>
            <a:br/>
            <a:r>
              <a:t>• Churn: Yes / No</a:t>
            </a:r>
          </a:p>
        </p:txBody>
      </p:sp>
      <p:sp>
        <p:nvSpPr>
          <p:cNvPr id="11" name="Rounded Rectangle 10"/>
          <p:cNvSpPr/>
          <p:nvPr/>
        </p:nvSpPr>
        <p:spPr>
          <a:xfrm>
            <a:off x="6309360" y="1783080"/>
            <a:ext cx="5257800" cy="3794760"/>
          </a:xfrm>
          <a:prstGeom prst="roundRect">
            <a:avLst/>
          </a:prstGeom>
          <a:solidFill>
            <a:srgbClr val="FBEFE1"/>
          </a:solidFill>
          <a:ln w="15240">
            <a:solidFill>
              <a:srgbClr val="E28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1911095"/>
            <a:ext cx="4928616" cy="365760"/>
          </a:xfrm>
          <a:prstGeom prst="rect">
            <a:avLst/>
          </a:prstGeom>
          <a:noFill/>
        </p:spPr>
        <p:txBody>
          <a:bodyPr wrap="square" anchor="ctr">
            <a:spAutoFit/>
          </a:bodyPr>
          <a:lstStyle/>
          <a:p>
            <a:pPr algn="l">
              <a:defRPr sz="2000" b="1">
                <a:solidFill>
                  <a:srgbClr val="E28431"/>
                </a:solidFill>
                <a:latin typeface="Aptos"/>
              </a:defRPr>
            </a:pPr>
            <a:r>
              <a:t>REGRESSION</a:t>
            </a:r>
          </a:p>
        </p:txBody>
      </p:sp>
      <p:sp>
        <p:nvSpPr>
          <p:cNvPr id="13" name="TextBox 12"/>
          <p:cNvSpPr txBox="1"/>
          <p:nvPr/>
        </p:nvSpPr>
        <p:spPr>
          <a:xfrm>
            <a:off x="6473952" y="2350008"/>
            <a:ext cx="4928616" cy="3081528"/>
          </a:xfrm>
          <a:prstGeom prst="rect">
            <a:avLst/>
          </a:prstGeom>
          <a:noFill/>
        </p:spPr>
        <p:txBody>
          <a:bodyPr wrap="square" anchor="ctr">
            <a:spAutoFit/>
          </a:bodyPr>
          <a:lstStyle/>
          <a:p>
            <a:pPr algn="l">
              <a:defRPr sz="1600" b="0">
                <a:solidFill>
                  <a:srgbClr val="282C34"/>
                </a:solidFill>
                <a:latin typeface="Aptos"/>
              </a:defRPr>
            </a:pPr>
            <a:r>
              <a:t>Predict a numerical value.</a:t>
            </a:r>
            <a:br/>
            <a:br/>
            <a:r>
              <a:t>• House price</a:t>
            </a:r>
            <a:br/>
            <a:r>
              <a:t>• Sales amount</a:t>
            </a:r>
            <a:br/>
            <a:r>
              <a:t>• Temperature</a:t>
            </a:r>
            <a:br/>
            <a:r>
              <a:t>• Delivery time</a:t>
            </a:r>
          </a:p>
        </p:txBody>
      </p:sp>
      <p:sp>
        <p:nvSpPr>
          <p:cNvPr id="14" name="TextBox 13"/>
          <p:cNvSpPr txBox="1"/>
          <p:nvPr/>
        </p:nvSpPr>
        <p:spPr>
          <a:xfrm>
            <a:off x="594360" y="6446520"/>
            <a:ext cx="5486400" cy="228600"/>
          </a:xfrm>
          <a:prstGeom prst="rect">
            <a:avLst/>
          </a:prstGeom>
          <a:noFill/>
        </p:spPr>
        <p:txBody>
          <a:bodyPr wrap="square" anchor="ctr">
            <a:spAutoFit/>
          </a:bodyPr>
          <a:lstStyle/>
          <a:p>
            <a:pPr algn="l">
              <a:defRPr sz="800" b="0">
                <a:solidFill>
                  <a:srgbClr val="69707C"/>
                </a:solidFill>
                <a:latin typeface="Aptos"/>
              </a:defRPr>
            </a:pPr>
            <a:r>
              <a:t>AI &amp; Machine Learning • Classroom Deck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256032"/>
            <a:ext cx="1417320" cy="384048"/>
          </a:xfrm>
          <a:prstGeom prst="roundRect">
            <a:avLst/>
          </a:prstGeom>
          <a:solidFill>
            <a:srgbClr val="7153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265176"/>
            <a:ext cx="1362456" cy="347472"/>
          </a:xfrm>
          <a:prstGeom prst="rect">
            <a:avLst/>
          </a:prstGeom>
          <a:noFill/>
        </p:spPr>
        <p:txBody>
          <a:bodyPr wrap="square" anchor="ctr">
            <a:spAutoFit/>
          </a:bodyPr>
          <a:lstStyle/>
          <a:p>
            <a:pPr algn="ctr">
              <a:defRPr sz="1000" b="1">
                <a:solidFill>
                  <a:srgbClr val="FFFFFF"/>
                </a:solidFill>
                <a:latin typeface="Aptos"/>
              </a:defRPr>
            </a:pPr>
            <a:r>
              <a:t>INTERACTIVE</a:t>
            </a:r>
          </a:p>
        </p:txBody>
      </p:sp>
      <p:sp>
        <p:nvSpPr>
          <p:cNvPr id="5" name="TextBox 4"/>
          <p:cNvSpPr txBox="1"/>
          <p:nvPr/>
        </p:nvSpPr>
        <p:spPr>
          <a:xfrm>
            <a:off x="594360" y="749808"/>
            <a:ext cx="10972800" cy="621792"/>
          </a:xfrm>
          <a:prstGeom prst="rect">
            <a:avLst/>
          </a:prstGeom>
          <a:noFill/>
        </p:spPr>
        <p:txBody>
          <a:bodyPr wrap="square" anchor="ctr">
            <a:spAutoFit/>
          </a:bodyPr>
          <a:lstStyle/>
          <a:p>
            <a:pPr algn="l">
              <a:defRPr sz="2900" b="1">
                <a:solidFill>
                  <a:srgbClr val="1B2B4B"/>
                </a:solidFill>
                <a:latin typeface="Aptos Display"/>
              </a:defRPr>
            </a:pPr>
            <a:r>
              <a:t>You are the classifier</a:t>
            </a:r>
          </a:p>
        </p:txBody>
      </p:sp>
      <p:sp>
        <p:nvSpPr>
          <p:cNvPr id="6" name="TextBox 5"/>
          <p:cNvSpPr txBox="1"/>
          <p:nvPr/>
        </p:nvSpPr>
        <p:spPr>
          <a:xfrm>
            <a:off x="621792" y="1353312"/>
            <a:ext cx="10789920" cy="384048"/>
          </a:xfrm>
          <a:prstGeom prst="rect">
            <a:avLst/>
          </a:prstGeom>
          <a:noFill/>
        </p:spPr>
        <p:txBody>
          <a:bodyPr wrap="square" anchor="ctr">
            <a:spAutoFit/>
          </a:bodyPr>
          <a:lstStyle/>
          <a:p>
            <a:pPr algn="l">
              <a:defRPr sz="1300" b="0">
                <a:solidFill>
                  <a:srgbClr val="69707C"/>
                </a:solidFill>
                <a:latin typeface="Aptos"/>
              </a:defRPr>
            </a:pPr>
            <a:r>
              <a:t>A model gives each transaction a fraud score from 0 to 1.</a:t>
            </a:r>
          </a:p>
        </p:txBody>
      </p:sp>
      <p:sp>
        <p:nvSpPr>
          <p:cNvPr id="7" name="TextBox 6"/>
          <p:cNvSpPr txBox="1"/>
          <p:nvPr/>
        </p:nvSpPr>
        <p:spPr>
          <a:xfrm>
            <a:off x="11155680" y="292608"/>
            <a:ext cx="457200" cy="274320"/>
          </a:xfrm>
          <a:prstGeom prst="rect">
            <a:avLst/>
          </a:prstGeom>
          <a:noFill/>
        </p:spPr>
        <p:txBody>
          <a:bodyPr wrap="square" anchor="ctr">
            <a:spAutoFit/>
          </a:bodyPr>
          <a:lstStyle/>
          <a:p>
            <a:pPr algn="r">
              <a:defRPr sz="900" b="1">
                <a:solidFill>
                  <a:srgbClr val="69707C"/>
                </a:solidFill>
                <a:latin typeface="Aptos"/>
              </a:defRPr>
            </a:pPr>
            <a:r>
              <a:t>12</a:t>
            </a:r>
          </a:p>
        </p:txBody>
      </p:sp>
      <p:sp>
        <p:nvSpPr>
          <p:cNvPr id="8" name="TextBox 7"/>
          <p:cNvSpPr txBox="1"/>
          <p:nvPr/>
        </p:nvSpPr>
        <p:spPr>
          <a:xfrm>
            <a:off x="822960" y="1828800"/>
            <a:ext cx="1828800" cy="365760"/>
          </a:xfrm>
          <a:prstGeom prst="rect">
            <a:avLst/>
          </a:prstGeom>
          <a:noFill/>
        </p:spPr>
        <p:txBody>
          <a:bodyPr wrap="square" anchor="ctr">
            <a:spAutoFit/>
          </a:bodyPr>
          <a:lstStyle/>
          <a:p>
            <a:pPr algn="l">
              <a:defRPr sz="1500" b="1">
                <a:solidFill>
                  <a:srgbClr val="69707C"/>
                </a:solidFill>
                <a:latin typeface="Aptos"/>
              </a:defRPr>
            </a:pPr>
            <a:r>
              <a:t>Transaction score</a:t>
            </a:r>
          </a:p>
        </p:txBody>
      </p:sp>
      <p:sp>
        <p:nvSpPr>
          <p:cNvPr id="9" name="Rectangle 8"/>
          <p:cNvSpPr/>
          <p:nvPr/>
        </p:nvSpPr>
        <p:spPr>
          <a:xfrm>
            <a:off x="914400" y="2788920"/>
            <a:ext cx="9966960" cy="201168"/>
          </a:xfrm>
          <a:prstGeom prst="rect">
            <a:avLst/>
          </a:prstGeom>
          <a:solidFill>
            <a:srgbClr val="D7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063240"/>
            <a:ext cx="548640" cy="274320"/>
          </a:xfrm>
          <a:prstGeom prst="rect">
            <a:avLst/>
          </a:prstGeom>
          <a:noFill/>
        </p:spPr>
        <p:txBody>
          <a:bodyPr wrap="square" anchor="ctr">
            <a:spAutoFit/>
          </a:bodyPr>
          <a:lstStyle/>
          <a:p>
            <a:pPr algn="ctr">
              <a:defRPr sz="1000" b="1">
                <a:solidFill>
                  <a:srgbClr val="69707C"/>
                </a:solidFill>
                <a:latin typeface="Aptos"/>
              </a:defRPr>
            </a:pPr>
            <a:r>
              <a:t>0.0</a:t>
            </a:r>
          </a:p>
        </p:txBody>
      </p:sp>
      <p:sp>
        <p:nvSpPr>
          <p:cNvPr id="11" name="TextBox 10"/>
          <p:cNvSpPr txBox="1"/>
          <p:nvPr/>
        </p:nvSpPr>
        <p:spPr>
          <a:xfrm>
            <a:off x="3268980" y="3063240"/>
            <a:ext cx="548640" cy="274320"/>
          </a:xfrm>
          <a:prstGeom prst="rect">
            <a:avLst/>
          </a:prstGeom>
          <a:noFill/>
        </p:spPr>
        <p:txBody>
          <a:bodyPr wrap="square" anchor="ctr">
            <a:spAutoFit/>
          </a:bodyPr>
          <a:lstStyle/>
          <a:p>
            <a:pPr algn="ctr">
              <a:defRPr sz="1000" b="1">
                <a:solidFill>
                  <a:srgbClr val="69707C"/>
                </a:solidFill>
                <a:latin typeface="Aptos"/>
              </a:defRPr>
            </a:pPr>
            <a:r>
              <a:t>0.25</a:t>
            </a:r>
          </a:p>
        </p:txBody>
      </p:sp>
      <p:sp>
        <p:nvSpPr>
          <p:cNvPr id="12" name="TextBox 11"/>
          <p:cNvSpPr txBox="1"/>
          <p:nvPr/>
        </p:nvSpPr>
        <p:spPr>
          <a:xfrm>
            <a:off x="5760720" y="3063240"/>
            <a:ext cx="548640" cy="274320"/>
          </a:xfrm>
          <a:prstGeom prst="rect">
            <a:avLst/>
          </a:prstGeom>
          <a:noFill/>
        </p:spPr>
        <p:txBody>
          <a:bodyPr wrap="square" anchor="ctr">
            <a:spAutoFit/>
          </a:bodyPr>
          <a:lstStyle/>
          <a:p>
            <a:pPr algn="ctr">
              <a:defRPr sz="1000" b="1">
                <a:solidFill>
                  <a:srgbClr val="69707C"/>
                </a:solidFill>
                <a:latin typeface="Aptos"/>
              </a:defRPr>
            </a:pPr>
            <a:r>
              <a:t>0.5</a:t>
            </a:r>
          </a:p>
        </p:txBody>
      </p:sp>
      <p:sp>
        <p:nvSpPr>
          <p:cNvPr id="13" name="TextBox 12"/>
          <p:cNvSpPr txBox="1"/>
          <p:nvPr/>
        </p:nvSpPr>
        <p:spPr>
          <a:xfrm>
            <a:off x="8252460" y="3063240"/>
            <a:ext cx="548640" cy="274320"/>
          </a:xfrm>
          <a:prstGeom prst="rect">
            <a:avLst/>
          </a:prstGeom>
          <a:noFill/>
        </p:spPr>
        <p:txBody>
          <a:bodyPr wrap="square" anchor="ctr">
            <a:spAutoFit/>
          </a:bodyPr>
          <a:lstStyle/>
          <a:p>
            <a:pPr algn="ctr">
              <a:defRPr sz="1000" b="1">
                <a:solidFill>
                  <a:srgbClr val="69707C"/>
                </a:solidFill>
                <a:latin typeface="Aptos"/>
              </a:defRPr>
            </a:pPr>
            <a:r>
              <a:t>0.75</a:t>
            </a:r>
          </a:p>
        </p:txBody>
      </p:sp>
      <p:sp>
        <p:nvSpPr>
          <p:cNvPr id="14" name="TextBox 13"/>
          <p:cNvSpPr txBox="1"/>
          <p:nvPr/>
        </p:nvSpPr>
        <p:spPr>
          <a:xfrm>
            <a:off x="10744200" y="3063240"/>
            <a:ext cx="548640" cy="274320"/>
          </a:xfrm>
          <a:prstGeom prst="rect">
            <a:avLst/>
          </a:prstGeom>
          <a:noFill/>
        </p:spPr>
        <p:txBody>
          <a:bodyPr wrap="square" anchor="ctr">
            <a:spAutoFit/>
          </a:bodyPr>
          <a:lstStyle/>
          <a:p>
            <a:pPr algn="ctr">
              <a:defRPr sz="1000" b="1">
                <a:solidFill>
                  <a:srgbClr val="69707C"/>
                </a:solidFill>
                <a:latin typeface="Aptos"/>
              </a:defRPr>
            </a:pPr>
            <a:r>
              <a:t>1.0</a:t>
            </a:r>
          </a:p>
        </p:txBody>
      </p:sp>
      <p:sp>
        <p:nvSpPr>
          <p:cNvPr id="15" name="TextBox 14"/>
          <p:cNvSpPr txBox="1"/>
          <p:nvPr/>
        </p:nvSpPr>
        <p:spPr>
          <a:xfrm>
            <a:off x="914400" y="3794760"/>
            <a:ext cx="10058400" cy="594360"/>
          </a:xfrm>
          <a:prstGeom prst="rect">
            <a:avLst/>
          </a:prstGeom>
          <a:noFill/>
        </p:spPr>
        <p:txBody>
          <a:bodyPr wrap="square" anchor="ctr">
            <a:spAutoFit/>
          </a:bodyPr>
          <a:lstStyle/>
          <a:p>
            <a:pPr algn="l">
              <a:defRPr sz="2100" b="1">
                <a:solidFill>
                  <a:srgbClr val="1B2B4B"/>
                </a:solidFill>
                <a:latin typeface="Aptos"/>
              </a:defRPr>
            </a:pPr>
            <a:r>
              <a:t>ASK: If threshold = 0.5, which transactions become “fraud”?</a:t>
            </a:r>
          </a:p>
        </p:txBody>
      </p:sp>
      <p:sp>
        <p:nvSpPr>
          <p:cNvPr id="16" name="TextBox 15"/>
          <p:cNvSpPr txBox="1"/>
          <p:nvPr/>
        </p:nvSpPr>
        <p:spPr>
          <a:xfrm>
            <a:off x="914400" y="4572000"/>
            <a:ext cx="10058400" cy="457200"/>
          </a:xfrm>
          <a:prstGeom prst="rect">
            <a:avLst/>
          </a:prstGeom>
          <a:noFill/>
        </p:spPr>
        <p:txBody>
          <a:bodyPr wrap="square" anchor="ctr">
            <a:spAutoFit/>
          </a:bodyPr>
          <a:lstStyle/>
          <a:p>
            <a:pPr algn="l">
              <a:defRPr sz="1600" b="1">
                <a:solidFill>
                  <a:srgbClr val="7153A8"/>
                </a:solidFill>
                <a:latin typeface="Aptos"/>
              </a:defRPr>
            </a:pPr>
            <a:r>
              <a:t>Follow-up: What happens if we move the threshold to 0.8?</a:t>
            </a:r>
          </a:p>
        </p:txBody>
      </p:sp>
      <p:sp>
        <p:nvSpPr>
          <p:cNvPr id="17" name="TextBox 16"/>
          <p:cNvSpPr txBox="1"/>
          <p:nvPr/>
        </p:nvSpPr>
        <p:spPr>
          <a:xfrm>
            <a:off x="594360" y="6446520"/>
            <a:ext cx="5486400" cy="228600"/>
          </a:xfrm>
          <a:prstGeom prst="rect">
            <a:avLst/>
          </a:prstGeom>
          <a:noFill/>
        </p:spPr>
        <p:txBody>
          <a:bodyPr wrap="square" anchor="ctr">
            <a:spAutoFit/>
          </a:bodyPr>
          <a:lstStyle/>
          <a:p>
            <a:pPr algn="l">
              <a:defRPr sz="800" b="0">
                <a:solidFill>
                  <a:srgbClr val="69707C"/>
                </a:solidFill>
                <a:latin typeface="Aptos"/>
              </a:defRPr>
            </a:pPr>
            <a:r>
              <a:t>Interactive pause • discuss before revealing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256032"/>
            <a:ext cx="1417320" cy="384048"/>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265176"/>
            <a:ext cx="1362456" cy="347472"/>
          </a:xfrm>
          <a:prstGeom prst="rect">
            <a:avLst/>
          </a:prstGeom>
          <a:noFill/>
        </p:spPr>
        <p:txBody>
          <a:bodyPr wrap="square" anchor="ctr">
            <a:spAutoFit/>
          </a:bodyPr>
          <a:lstStyle/>
          <a:p>
            <a:pPr algn="ctr">
              <a:defRPr sz="1000" b="1">
                <a:solidFill>
                  <a:srgbClr val="FFFFFF"/>
                </a:solidFill>
                <a:latin typeface="Aptos"/>
              </a:defRPr>
            </a:pPr>
            <a:r>
              <a:t>THEORY</a:t>
            </a:r>
          </a:p>
        </p:txBody>
      </p:sp>
      <p:sp>
        <p:nvSpPr>
          <p:cNvPr id="5" name="TextBox 4"/>
          <p:cNvSpPr txBox="1"/>
          <p:nvPr/>
        </p:nvSpPr>
        <p:spPr>
          <a:xfrm>
            <a:off x="594360" y="749808"/>
            <a:ext cx="10972800" cy="621792"/>
          </a:xfrm>
          <a:prstGeom prst="rect">
            <a:avLst/>
          </a:prstGeom>
          <a:noFill/>
        </p:spPr>
        <p:txBody>
          <a:bodyPr wrap="square" anchor="ctr">
            <a:spAutoFit/>
          </a:bodyPr>
          <a:lstStyle/>
          <a:p>
            <a:pPr algn="l">
              <a:defRPr sz="2900" b="1">
                <a:solidFill>
                  <a:srgbClr val="1B2B4B"/>
                </a:solidFill>
                <a:latin typeface="Aptos Display"/>
              </a:defRPr>
            </a:pPr>
            <a:r>
              <a:t>Classification: confusion matrix</a:t>
            </a:r>
          </a:p>
        </p:txBody>
      </p:sp>
      <p:sp>
        <p:nvSpPr>
          <p:cNvPr id="6" name="TextBox 5"/>
          <p:cNvSpPr txBox="1"/>
          <p:nvPr/>
        </p:nvSpPr>
        <p:spPr>
          <a:xfrm>
            <a:off x="621792" y="1353312"/>
            <a:ext cx="10789920" cy="384048"/>
          </a:xfrm>
          <a:prstGeom prst="rect">
            <a:avLst/>
          </a:prstGeom>
          <a:noFill/>
        </p:spPr>
        <p:txBody>
          <a:bodyPr wrap="square" anchor="ctr">
            <a:spAutoFit/>
          </a:bodyPr>
          <a:lstStyle/>
          <a:p>
            <a:pPr algn="l">
              <a:defRPr sz="1300" b="0">
                <a:solidFill>
                  <a:srgbClr val="69707C"/>
                </a:solidFill>
                <a:latin typeface="Aptos"/>
              </a:defRPr>
            </a:pPr>
            <a:r>
              <a:t>A prediction can be correct or incorrect in different ways.</a:t>
            </a:r>
          </a:p>
        </p:txBody>
      </p:sp>
      <p:sp>
        <p:nvSpPr>
          <p:cNvPr id="7" name="TextBox 6"/>
          <p:cNvSpPr txBox="1"/>
          <p:nvPr/>
        </p:nvSpPr>
        <p:spPr>
          <a:xfrm>
            <a:off x="11155680" y="292608"/>
            <a:ext cx="457200" cy="274320"/>
          </a:xfrm>
          <a:prstGeom prst="rect">
            <a:avLst/>
          </a:prstGeom>
          <a:noFill/>
        </p:spPr>
        <p:txBody>
          <a:bodyPr wrap="square" anchor="ctr">
            <a:spAutoFit/>
          </a:bodyPr>
          <a:lstStyle/>
          <a:p>
            <a:pPr algn="r">
              <a:defRPr sz="900" b="1">
                <a:solidFill>
                  <a:srgbClr val="69707C"/>
                </a:solidFill>
                <a:latin typeface="Aptos"/>
              </a:defRPr>
            </a:pPr>
            <a:r>
              <a:t>13</a:t>
            </a:r>
          </a:p>
        </p:txBody>
      </p:sp>
      <p:sp>
        <p:nvSpPr>
          <p:cNvPr id="8" name="Rounded Rectangle 7"/>
          <p:cNvSpPr/>
          <p:nvPr/>
        </p:nvSpPr>
        <p:spPr>
          <a:xfrm>
            <a:off x="685800" y="1783080"/>
            <a:ext cx="5212080" cy="1600200"/>
          </a:xfrm>
          <a:prstGeom prst="roundRect">
            <a:avLst/>
          </a:prstGeom>
          <a:solidFill>
            <a:srgbClr val="FFFFFF"/>
          </a:solidFill>
          <a:ln w="15240">
            <a:solidFill>
              <a:srgbClr val="378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911095"/>
            <a:ext cx="4882896" cy="365760"/>
          </a:xfrm>
          <a:prstGeom prst="rect">
            <a:avLst/>
          </a:prstGeom>
          <a:noFill/>
        </p:spPr>
        <p:txBody>
          <a:bodyPr wrap="square" anchor="ctr">
            <a:spAutoFit/>
          </a:bodyPr>
          <a:lstStyle/>
          <a:p>
            <a:pPr algn="l">
              <a:defRPr sz="1700" b="1">
                <a:solidFill>
                  <a:srgbClr val="37895B"/>
                </a:solidFill>
                <a:latin typeface="Aptos"/>
              </a:defRPr>
            </a:pPr>
            <a:r>
              <a:t>TRUE POSITIVE</a:t>
            </a:r>
          </a:p>
        </p:txBody>
      </p:sp>
      <p:sp>
        <p:nvSpPr>
          <p:cNvPr id="10" name="TextBox 9"/>
          <p:cNvSpPr txBox="1"/>
          <p:nvPr/>
        </p:nvSpPr>
        <p:spPr>
          <a:xfrm>
            <a:off x="850392" y="2350008"/>
            <a:ext cx="4882896" cy="886968"/>
          </a:xfrm>
          <a:prstGeom prst="rect">
            <a:avLst/>
          </a:prstGeom>
          <a:noFill/>
        </p:spPr>
        <p:txBody>
          <a:bodyPr wrap="square" anchor="ctr">
            <a:spAutoFit/>
          </a:bodyPr>
          <a:lstStyle/>
          <a:p>
            <a:pPr algn="l">
              <a:defRPr sz="1400" b="0">
                <a:solidFill>
                  <a:srgbClr val="282C34"/>
                </a:solidFill>
                <a:latin typeface="Aptos"/>
              </a:defRPr>
            </a:pPr>
            <a:r>
              <a:t>Predicted Positive</a:t>
            </a:r>
            <a:br/>
            <a:r>
              <a:t>Actual Positive</a:t>
            </a:r>
          </a:p>
        </p:txBody>
      </p:sp>
      <p:sp>
        <p:nvSpPr>
          <p:cNvPr id="11" name="Rounded Rectangle 10"/>
          <p:cNvSpPr/>
          <p:nvPr/>
        </p:nvSpPr>
        <p:spPr>
          <a:xfrm>
            <a:off x="6263640" y="1783080"/>
            <a:ext cx="5212080" cy="1600200"/>
          </a:xfrm>
          <a:prstGeom prst="roundRect">
            <a:avLst/>
          </a:prstGeom>
          <a:solidFill>
            <a:srgbClr val="FFFFFF"/>
          </a:solidFill>
          <a:ln w="15240">
            <a:solidFill>
              <a:srgbClr val="BE4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1" y="1911095"/>
            <a:ext cx="4882896" cy="365760"/>
          </a:xfrm>
          <a:prstGeom prst="rect">
            <a:avLst/>
          </a:prstGeom>
          <a:noFill/>
        </p:spPr>
        <p:txBody>
          <a:bodyPr wrap="square" anchor="ctr">
            <a:spAutoFit/>
          </a:bodyPr>
          <a:lstStyle/>
          <a:p>
            <a:pPr algn="l">
              <a:defRPr sz="1700" b="1">
                <a:solidFill>
                  <a:srgbClr val="BE4848"/>
                </a:solidFill>
                <a:latin typeface="Aptos"/>
              </a:defRPr>
            </a:pPr>
            <a:r>
              <a:t>FALSE POSITIVE</a:t>
            </a:r>
          </a:p>
        </p:txBody>
      </p:sp>
      <p:sp>
        <p:nvSpPr>
          <p:cNvPr id="13" name="TextBox 12"/>
          <p:cNvSpPr txBox="1"/>
          <p:nvPr/>
        </p:nvSpPr>
        <p:spPr>
          <a:xfrm>
            <a:off x="6428231" y="2350008"/>
            <a:ext cx="4882896" cy="886968"/>
          </a:xfrm>
          <a:prstGeom prst="rect">
            <a:avLst/>
          </a:prstGeom>
          <a:noFill/>
        </p:spPr>
        <p:txBody>
          <a:bodyPr wrap="square" anchor="ctr">
            <a:spAutoFit/>
          </a:bodyPr>
          <a:lstStyle/>
          <a:p>
            <a:pPr algn="l">
              <a:defRPr sz="1400" b="0">
                <a:solidFill>
                  <a:srgbClr val="282C34"/>
                </a:solidFill>
                <a:latin typeface="Aptos"/>
              </a:defRPr>
            </a:pPr>
            <a:r>
              <a:t>Predicted Positive</a:t>
            </a:r>
            <a:br/>
            <a:r>
              <a:t>Actual Negative</a:t>
            </a:r>
          </a:p>
        </p:txBody>
      </p:sp>
      <p:sp>
        <p:nvSpPr>
          <p:cNvPr id="14" name="Rounded Rectangle 13"/>
          <p:cNvSpPr/>
          <p:nvPr/>
        </p:nvSpPr>
        <p:spPr>
          <a:xfrm>
            <a:off x="685800" y="3703320"/>
            <a:ext cx="5212080" cy="1600200"/>
          </a:xfrm>
          <a:prstGeom prst="roundRect">
            <a:avLst/>
          </a:prstGeom>
          <a:solidFill>
            <a:srgbClr val="FFFFFF"/>
          </a:solidFill>
          <a:ln w="1524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3831335"/>
            <a:ext cx="4882896" cy="365760"/>
          </a:xfrm>
          <a:prstGeom prst="rect">
            <a:avLst/>
          </a:prstGeom>
          <a:noFill/>
        </p:spPr>
        <p:txBody>
          <a:bodyPr wrap="square" anchor="ctr">
            <a:spAutoFit/>
          </a:bodyPr>
          <a:lstStyle/>
          <a:p>
            <a:pPr algn="l">
              <a:defRPr sz="1700" b="1">
                <a:solidFill>
                  <a:srgbClr val="2B6CB0"/>
                </a:solidFill>
                <a:latin typeface="Aptos"/>
              </a:defRPr>
            </a:pPr>
            <a:r>
              <a:t>TRUE NEGATIVE</a:t>
            </a:r>
          </a:p>
        </p:txBody>
      </p:sp>
      <p:sp>
        <p:nvSpPr>
          <p:cNvPr id="16" name="TextBox 15"/>
          <p:cNvSpPr txBox="1"/>
          <p:nvPr/>
        </p:nvSpPr>
        <p:spPr>
          <a:xfrm>
            <a:off x="850392" y="4270248"/>
            <a:ext cx="4882896" cy="886968"/>
          </a:xfrm>
          <a:prstGeom prst="rect">
            <a:avLst/>
          </a:prstGeom>
          <a:noFill/>
        </p:spPr>
        <p:txBody>
          <a:bodyPr wrap="square" anchor="ctr">
            <a:spAutoFit/>
          </a:bodyPr>
          <a:lstStyle/>
          <a:p>
            <a:pPr algn="l">
              <a:defRPr sz="1400" b="0">
                <a:solidFill>
                  <a:srgbClr val="282C34"/>
                </a:solidFill>
                <a:latin typeface="Aptos"/>
              </a:defRPr>
            </a:pPr>
            <a:r>
              <a:t>Predicted Negative</a:t>
            </a:r>
            <a:br/>
            <a:r>
              <a:t>Actual Negative</a:t>
            </a:r>
          </a:p>
        </p:txBody>
      </p:sp>
      <p:sp>
        <p:nvSpPr>
          <p:cNvPr id="17" name="Rounded Rectangle 16"/>
          <p:cNvSpPr/>
          <p:nvPr/>
        </p:nvSpPr>
        <p:spPr>
          <a:xfrm>
            <a:off x="6263640" y="3703320"/>
            <a:ext cx="5212080" cy="1600200"/>
          </a:xfrm>
          <a:prstGeom prst="roundRect">
            <a:avLst/>
          </a:prstGeom>
          <a:solidFill>
            <a:srgbClr val="FFFFFF"/>
          </a:solidFill>
          <a:ln w="15240">
            <a:solidFill>
              <a:srgbClr val="E28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8231" y="3831335"/>
            <a:ext cx="4882896" cy="365760"/>
          </a:xfrm>
          <a:prstGeom prst="rect">
            <a:avLst/>
          </a:prstGeom>
          <a:noFill/>
        </p:spPr>
        <p:txBody>
          <a:bodyPr wrap="square" anchor="ctr">
            <a:spAutoFit/>
          </a:bodyPr>
          <a:lstStyle/>
          <a:p>
            <a:pPr algn="l">
              <a:defRPr sz="1700" b="1">
                <a:solidFill>
                  <a:srgbClr val="E28431"/>
                </a:solidFill>
                <a:latin typeface="Aptos"/>
              </a:defRPr>
            </a:pPr>
            <a:r>
              <a:t>FALSE NEGATIVE</a:t>
            </a:r>
          </a:p>
        </p:txBody>
      </p:sp>
      <p:sp>
        <p:nvSpPr>
          <p:cNvPr id="19" name="TextBox 18"/>
          <p:cNvSpPr txBox="1"/>
          <p:nvPr/>
        </p:nvSpPr>
        <p:spPr>
          <a:xfrm>
            <a:off x="6428231" y="4270248"/>
            <a:ext cx="4882896" cy="886968"/>
          </a:xfrm>
          <a:prstGeom prst="rect">
            <a:avLst/>
          </a:prstGeom>
          <a:noFill/>
        </p:spPr>
        <p:txBody>
          <a:bodyPr wrap="square" anchor="ctr">
            <a:spAutoFit/>
          </a:bodyPr>
          <a:lstStyle/>
          <a:p>
            <a:pPr algn="l">
              <a:defRPr sz="1400" b="0">
                <a:solidFill>
                  <a:srgbClr val="282C34"/>
                </a:solidFill>
                <a:latin typeface="Aptos"/>
              </a:defRPr>
            </a:pPr>
            <a:r>
              <a:t>Predicted Negative</a:t>
            </a:r>
            <a:br/>
            <a:r>
              <a:t>Actual Positive</a:t>
            </a:r>
          </a:p>
        </p:txBody>
      </p:sp>
      <p:sp>
        <p:nvSpPr>
          <p:cNvPr id="20" name="TextBox 19"/>
          <p:cNvSpPr txBox="1"/>
          <p:nvPr/>
        </p:nvSpPr>
        <p:spPr>
          <a:xfrm>
            <a:off x="594360" y="6446520"/>
            <a:ext cx="5486400" cy="228600"/>
          </a:xfrm>
          <a:prstGeom prst="rect">
            <a:avLst/>
          </a:prstGeom>
          <a:noFill/>
        </p:spPr>
        <p:txBody>
          <a:bodyPr wrap="square" anchor="ctr">
            <a:spAutoFit/>
          </a:bodyPr>
          <a:lstStyle/>
          <a:p>
            <a:pPr algn="l">
              <a:defRPr sz="800" b="0">
                <a:solidFill>
                  <a:srgbClr val="69707C"/>
                </a:solidFill>
                <a:latin typeface="Aptos"/>
              </a:defRPr>
            </a:pPr>
            <a:r>
              <a:t>AI &amp; Machine Learning • Classroom Deck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256032"/>
            <a:ext cx="1417320" cy="384048"/>
          </a:xfrm>
          <a:prstGeom prst="roundRect">
            <a:avLst/>
          </a:prstGeom>
          <a:solidFill>
            <a:srgbClr val="1B2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265176"/>
            <a:ext cx="1362456" cy="347472"/>
          </a:xfrm>
          <a:prstGeom prst="rect">
            <a:avLst/>
          </a:prstGeom>
          <a:noFill/>
        </p:spPr>
        <p:txBody>
          <a:bodyPr wrap="square" anchor="ctr">
            <a:spAutoFit/>
          </a:bodyPr>
          <a:lstStyle/>
          <a:p>
            <a:pPr algn="ctr">
              <a:defRPr sz="1000" b="1">
                <a:solidFill>
                  <a:srgbClr val="FFFFFF"/>
                </a:solidFill>
                <a:latin typeface="Aptos"/>
              </a:defRPr>
            </a:pPr>
            <a:r>
              <a:t>THEORY</a:t>
            </a:r>
          </a:p>
        </p:txBody>
      </p:sp>
      <p:sp>
        <p:nvSpPr>
          <p:cNvPr id="5" name="TextBox 4"/>
          <p:cNvSpPr txBox="1"/>
          <p:nvPr/>
        </p:nvSpPr>
        <p:spPr>
          <a:xfrm>
            <a:off x="594360" y="749808"/>
            <a:ext cx="10972800" cy="621792"/>
          </a:xfrm>
          <a:prstGeom prst="rect">
            <a:avLst/>
          </a:prstGeom>
          <a:noFill/>
        </p:spPr>
        <p:txBody>
          <a:bodyPr wrap="square" anchor="ctr">
            <a:spAutoFit/>
          </a:bodyPr>
          <a:lstStyle/>
          <a:p>
            <a:pPr algn="l">
              <a:defRPr sz="2900" b="1">
                <a:solidFill>
                  <a:srgbClr val="1B2B4B"/>
                </a:solidFill>
                <a:latin typeface="Aptos Display"/>
              </a:defRPr>
            </a:pPr>
            <a:r>
              <a:t>End-to-end ML workflow</a:t>
            </a:r>
          </a:p>
        </p:txBody>
      </p:sp>
      <p:sp>
        <p:nvSpPr>
          <p:cNvPr id="6" name="TextBox 5"/>
          <p:cNvSpPr txBox="1"/>
          <p:nvPr/>
        </p:nvSpPr>
        <p:spPr>
          <a:xfrm>
            <a:off x="621792" y="1353312"/>
            <a:ext cx="10789920" cy="384048"/>
          </a:xfrm>
          <a:prstGeom prst="rect">
            <a:avLst/>
          </a:prstGeom>
          <a:noFill/>
        </p:spPr>
        <p:txBody>
          <a:bodyPr wrap="square" anchor="ctr">
            <a:spAutoFit/>
          </a:bodyPr>
          <a:lstStyle/>
          <a:p>
            <a:pPr algn="l">
              <a:defRPr sz="1300" b="0">
                <a:solidFill>
                  <a:srgbClr val="69707C"/>
                </a:solidFill>
                <a:latin typeface="Aptos"/>
              </a:defRPr>
            </a:pPr>
            <a:r>
              <a:t>The model is only one part of an ML project.</a:t>
            </a:r>
          </a:p>
        </p:txBody>
      </p:sp>
      <p:sp>
        <p:nvSpPr>
          <p:cNvPr id="7" name="TextBox 6"/>
          <p:cNvSpPr txBox="1"/>
          <p:nvPr/>
        </p:nvSpPr>
        <p:spPr>
          <a:xfrm>
            <a:off x="11155680" y="292608"/>
            <a:ext cx="457200" cy="274320"/>
          </a:xfrm>
          <a:prstGeom prst="rect">
            <a:avLst/>
          </a:prstGeom>
          <a:noFill/>
        </p:spPr>
        <p:txBody>
          <a:bodyPr wrap="square" anchor="ctr">
            <a:spAutoFit/>
          </a:bodyPr>
          <a:lstStyle/>
          <a:p>
            <a:pPr algn="r">
              <a:defRPr sz="900" b="1">
                <a:solidFill>
                  <a:srgbClr val="69707C"/>
                </a:solidFill>
                <a:latin typeface="Aptos"/>
              </a:defRPr>
            </a:pPr>
            <a:r>
              <a:t>14</a:t>
            </a:r>
          </a:p>
        </p:txBody>
      </p:sp>
      <p:sp>
        <p:nvSpPr>
          <p:cNvPr id="8" name="Rounded Rectangle 7"/>
          <p:cNvSpPr/>
          <p:nvPr/>
        </p:nvSpPr>
        <p:spPr>
          <a:xfrm>
            <a:off x="612648" y="2057400"/>
            <a:ext cx="1426464" cy="786384"/>
          </a:xfrm>
          <a:prstGeom prst="roundRect">
            <a:avLst/>
          </a:prstGeom>
          <a:solidFill>
            <a:srgbClr val="1B2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2167128"/>
            <a:ext cx="1353312" cy="566928"/>
          </a:xfrm>
          <a:prstGeom prst="rect">
            <a:avLst/>
          </a:prstGeom>
          <a:noFill/>
        </p:spPr>
        <p:txBody>
          <a:bodyPr wrap="square" anchor="ctr">
            <a:spAutoFit/>
          </a:bodyPr>
          <a:lstStyle/>
          <a:p>
            <a:pPr algn="ctr">
              <a:defRPr sz="1400" b="1">
                <a:solidFill>
                  <a:srgbClr val="FFFFFF"/>
                </a:solidFill>
                <a:latin typeface="Aptos"/>
              </a:defRPr>
            </a:pPr>
            <a:r>
              <a:t>Problem</a:t>
            </a:r>
          </a:p>
        </p:txBody>
      </p:sp>
      <p:sp>
        <p:nvSpPr>
          <p:cNvPr id="10" name="Rounded Rectangle 9"/>
          <p:cNvSpPr/>
          <p:nvPr/>
        </p:nvSpPr>
        <p:spPr>
          <a:xfrm>
            <a:off x="2203704" y="2057400"/>
            <a:ext cx="1426464" cy="786384"/>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40280" y="2167128"/>
            <a:ext cx="1353312" cy="566928"/>
          </a:xfrm>
          <a:prstGeom prst="rect">
            <a:avLst/>
          </a:prstGeom>
          <a:noFill/>
        </p:spPr>
        <p:txBody>
          <a:bodyPr wrap="square" anchor="ctr">
            <a:spAutoFit/>
          </a:bodyPr>
          <a:lstStyle/>
          <a:p>
            <a:pPr algn="ctr">
              <a:defRPr sz="1400" b="1">
                <a:solidFill>
                  <a:srgbClr val="FFFFFF"/>
                </a:solidFill>
                <a:latin typeface="Aptos"/>
              </a:defRPr>
            </a:pPr>
            <a:r>
              <a:t>Data</a:t>
            </a:r>
          </a:p>
        </p:txBody>
      </p:sp>
      <p:sp>
        <p:nvSpPr>
          <p:cNvPr id="12" name="Rounded Rectangle 11"/>
          <p:cNvSpPr/>
          <p:nvPr/>
        </p:nvSpPr>
        <p:spPr>
          <a:xfrm>
            <a:off x="3794760" y="2057400"/>
            <a:ext cx="1426464" cy="786384"/>
          </a:xfrm>
          <a:prstGeom prst="roundRect">
            <a:avLst/>
          </a:prstGeom>
          <a:solidFill>
            <a:srgbClr val="2089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31336" y="2167128"/>
            <a:ext cx="1353312" cy="566928"/>
          </a:xfrm>
          <a:prstGeom prst="rect">
            <a:avLst/>
          </a:prstGeom>
          <a:noFill/>
        </p:spPr>
        <p:txBody>
          <a:bodyPr wrap="square" anchor="ctr">
            <a:spAutoFit/>
          </a:bodyPr>
          <a:lstStyle/>
          <a:p>
            <a:pPr algn="ctr">
              <a:defRPr sz="1400" b="1">
                <a:solidFill>
                  <a:srgbClr val="FFFFFF"/>
                </a:solidFill>
                <a:latin typeface="Aptos"/>
              </a:defRPr>
            </a:pPr>
            <a:r>
              <a:t>Clean</a:t>
            </a:r>
          </a:p>
        </p:txBody>
      </p:sp>
      <p:sp>
        <p:nvSpPr>
          <p:cNvPr id="14" name="Rounded Rectangle 13"/>
          <p:cNvSpPr/>
          <p:nvPr/>
        </p:nvSpPr>
        <p:spPr>
          <a:xfrm>
            <a:off x="5385816" y="2057400"/>
            <a:ext cx="1426464" cy="786384"/>
          </a:xfrm>
          <a:prstGeom prst="roundRect">
            <a:avLst/>
          </a:prstGeom>
          <a:solidFill>
            <a:srgbClr val="7153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22392" y="2167128"/>
            <a:ext cx="1353312" cy="566928"/>
          </a:xfrm>
          <a:prstGeom prst="rect">
            <a:avLst/>
          </a:prstGeom>
          <a:noFill/>
        </p:spPr>
        <p:txBody>
          <a:bodyPr wrap="square" anchor="ctr">
            <a:spAutoFit/>
          </a:bodyPr>
          <a:lstStyle/>
          <a:p>
            <a:pPr algn="ctr">
              <a:defRPr sz="1400" b="1">
                <a:solidFill>
                  <a:srgbClr val="FFFFFF"/>
                </a:solidFill>
                <a:latin typeface="Aptos"/>
              </a:defRPr>
            </a:pPr>
            <a:r>
              <a:t>Split</a:t>
            </a:r>
          </a:p>
        </p:txBody>
      </p:sp>
      <p:sp>
        <p:nvSpPr>
          <p:cNvPr id="16" name="Rounded Rectangle 15"/>
          <p:cNvSpPr/>
          <p:nvPr/>
        </p:nvSpPr>
        <p:spPr>
          <a:xfrm>
            <a:off x="6976872" y="2057400"/>
            <a:ext cx="1426464" cy="786384"/>
          </a:xfrm>
          <a:prstGeom prst="roundRect">
            <a:avLst/>
          </a:prstGeom>
          <a:solidFill>
            <a:srgbClr val="E284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13448" y="2167128"/>
            <a:ext cx="1353312" cy="566928"/>
          </a:xfrm>
          <a:prstGeom prst="rect">
            <a:avLst/>
          </a:prstGeom>
          <a:noFill/>
        </p:spPr>
        <p:txBody>
          <a:bodyPr wrap="square" anchor="ctr">
            <a:spAutoFit/>
          </a:bodyPr>
          <a:lstStyle/>
          <a:p>
            <a:pPr algn="ctr">
              <a:defRPr sz="1400" b="1">
                <a:solidFill>
                  <a:srgbClr val="FFFFFF"/>
                </a:solidFill>
                <a:latin typeface="Aptos"/>
              </a:defRPr>
            </a:pPr>
            <a:r>
              <a:t>Train</a:t>
            </a:r>
          </a:p>
        </p:txBody>
      </p:sp>
      <p:sp>
        <p:nvSpPr>
          <p:cNvPr id="18" name="Rounded Rectangle 17"/>
          <p:cNvSpPr/>
          <p:nvPr/>
        </p:nvSpPr>
        <p:spPr>
          <a:xfrm>
            <a:off x="8567928" y="2057400"/>
            <a:ext cx="1426464" cy="786384"/>
          </a:xfrm>
          <a:prstGeom prst="roundRect">
            <a:avLst/>
          </a:prstGeom>
          <a:solidFill>
            <a:srgbClr val="378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04504" y="2167128"/>
            <a:ext cx="1353312" cy="566928"/>
          </a:xfrm>
          <a:prstGeom prst="rect">
            <a:avLst/>
          </a:prstGeom>
          <a:noFill/>
        </p:spPr>
        <p:txBody>
          <a:bodyPr wrap="square" anchor="ctr">
            <a:spAutoFit/>
          </a:bodyPr>
          <a:lstStyle/>
          <a:p>
            <a:pPr algn="ctr">
              <a:defRPr sz="1400" b="1">
                <a:solidFill>
                  <a:srgbClr val="FFFFFF"/>
                </a:solidFill>
                <a:latin typeface="Aptos"/>
              </a:defRPr>
            </a:pPr>
            <a:r>
              <a:t>Evaluate</a:t>
            </a:r>
          </a:p>
        </p:txBody>
      </p:sp>
      <p:sp>
        <p:nvSpPr>
          <p:cNvPr id="20" name="Rounded Rectangle 19"/>
          <p:cNvSpPr/>
          <p:nvPr/>
        </p:nvSpPr>
        <p:spPr>
          <a:xfrm>
            <a:off x="10158984" y="2057400"/>
            <a:ext cx="1426464" cy="786384"/>
          </a:xfrm>
          <a:prstGeom prst="roundRect">
            <a:avLst/>
          </a:prstGeom>
          <a:solidFill>
            <a:srgbClr val="1B2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195560" y="2167128"/>
            <a:ext cx="1353312" cy="566928"/>
          </a:xfrm>
          <a:prstGeom prst="rect">
            <a:avLst/>
          </a:prstGeom>
          <a:noFill/>
        </p:spPr>
        <p:txBody>
          <a:bodyPr wrap="square" anchor="ctr">
            <a:spAutoFit/>
          </a:bodyPr>
          <a:lstStyle/>
          <a:p>
            <a:pPr algn="ctr">
              <a:defRPr sz="1400" b="1">
                <a:solidFill>
                  <a:srgbClr val="FFFFFF"/>
                </a:solidFill>
                <a:latin typeface="Aptos"/>
              </a:defRPr>
            </a:pPr>
            <a:r>
              <a:t>Deploy</a:t>
            </a:r>
          </a:p>
        </p:txBody>
      </p:sp>
      <p:sp>
        <p:nvSpPr>
          <p:cNvPr id="22" name="TextBox 21"/>
          <p:cNvSpPr txBox="1"/>
          <p:nvPr/>
        </p:nvSpPr>
        <p:spPr>
          <a:xfrm>
            <a:off x="822960" y="3749039"/>
            <a:ext cx="10515600" cy="1737360"/>
          </a:xfrm>
          <a:prstGeom prst="rect">
            <a:avLst/>
          </a:prstGeom>
          <a:noFill/>
        </p:spPr>
        <p:txBody>
          <a:bodyPr wrap="square">
            <a:spAutoFit/>
          </a:bodyPr>
          <a:lstStyle/>
          <a:p>
            <a:pPr>
              <a:spcAft>
                <a:spcPts val="1000"/>
              </a:spcAft>
              <a:defRPr sz="1600">
                <a:solidFill>
                  <a:srgbClr val="282C34"/>
                </a:solidFill>
                <a:latin typeface="Aptos"/>
              </a:defRPr>
            </a:pPr>
            <a:r>
              <a:t>• Start with a problem statement—not with an algorithm.</a:t>
            </a:r>
          </a:p>
          <a:p>
            <a:pPr>
              <a:spcAft>
                <a:spcPts val="1000"/>
              </a:spcAft>
              <a:defRPr sz="1600">
                <a:solidFill>
                  <a:srgbClr val="282C34"/>
                </a:solidFill>
                <a:latin typeface="Aptos"/>
              </a:defRPr>
            </a:pPr>
            <a:r>
              <a:t>• Define features, target and success metric.</a:t>
            </a:r>
          </a:p>
          <a:p>
            <a:pPr>
              <a:spcAft>
                <a:spcPts val="1000"/>
              </a:spcAft>
              <a:defRPr sz="1600">
                <a:solidFill>
                  <a:srgbClr val="282C34"/>
                </a:solidFill>
                <a:latin typeface="Aptos"/>
              </a:defRPr>
            </a:pPr>
            <a:r>
              <a:t>• Keep test data separate so evaluation represents unseen data.</a:t>
            </a:r>
          </a:p>
        </p:txBody>
      </p:sp>
      <p:sp>
        <p:nvSpPr>
          <p:cNvPr id="23" name="TextBox 22"/>
          <p:cNvSpPr txBox="1"/>
          <p:nvPr/>
        </p:nvSpPr>
        <p:spPr>
          <a:xfrm>
            <a:off x="594360" y="6446520"/>
            <a:ext cx="5486400" cy="228600"/>
          </a:xfrm>
          <a:prstGeom prst="rect">
            <a:avLst/>
          </a:prstGeom>
          <a:noFill/>
        </p:spPr>
        <p:txBody>
          <a:bodyPr wrap="square" anchor="ctr">
            <a:spAutoFit/>
          </a:bodyPr>
          <a:lstStyle/>
          <a:p>
            <a:pPr algn="l">
              <a:defRPr sz="800" b="0">
                <a:solidFill>
                  <a:srgbClr val="69707C"/>
                </a:solidFill>
                <a:latin typeface="Aptos"/>
              </a:defRPr>
            </a:pPr>
            <a:r>
              <a:t>AI &amp; Machine Learning • Classroom Deck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256032"/>
            <a:ext cx="1417320" cy="384048"/>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265176"/>
            <a:ext cx="1362456" cy="347472"/>
          </a:xfrm>
          <a:prstGeom prst="rect">
            <a:avLst/>
          </a:prstGeom>
          <a:noFill/>
        </p:spPr>
        <p:txBody>
          <a:bodyPr wrap="square" anchor="ctr">
            <a:spAutoFit/>
          </a:bodyPr>
          <a:lstStyle/>
          <a:p>
            <a:pPr algn="ctr">
              <a:defRPr sz="1000" b="1">
                <a:solidFill>
                  <a:srgbClr val="FFFFFF"/>
                </a:solidFill>
                <a:latin typeface="Aptos"/>
              </a:defRPr>
            </a:pPr>
            <a:r>
              <a:t>REAL WORLD</a:t>
            </a:r>
          </a:p>
        </p:txBody>
      </p:sp>
      <p:sp>
        <p:nvSpPr>
          <p:cNvPr id="5" name="TextBox 4"/>
          <p:cNvSpPr txBox="1"/>
          <p:nvPr/>
        </p:nvSpPr>
        <p:spPr>
          <a:xfrm>
            <a:off x="594360" y="749808"/>
            <a:ext cx="10972800" cy="621792"/>
          </a:xfrm>
          <a:prstGeom prst="rect">
            <a:avLst/>
          </a:prstGeom>
          <a:noFill/>
        </p:spPr>
        <p:txBody>
          <a:bodyPr wrap="square" anchor="ctr">
            <a:spAutoFit/>
          </a:bodyPr>
          <a:lstStyle/>
          <a:p>
            <a:pPr algn="l">
              <a:defRPr sz="2900" b="1">
                <a:solidFill>
                  <a:srgbClr val="1B2B4B"/>
                </a:solidFill>
                <a:latin typeface="Aptos Display"/>
              </a:defRPr>
            </a:pPr>
            <a:r>
              <a:t>Identify ML applications in everyday life</a:t>
            </a:r>
          </a:p>
        </p:txBody>
      </p:sp>
      <p:sp>
        <p:nvSpPr>
          <p:cNvPr id="6" name="TextBox 5"/>
          <p:cNvSpPr txBox="1"/>
          <p:nvPr/>
        </p:nvSpPr>
        <p:spPr>
          <a:xfrm>
            <a:off x="621792" y="1353312"/>
            <a:ext cx="10789920" cy="384048"/>
          </a:xfrm>
          <a:prstGeom prst="rect">
            <a:avLst/>
          </a:prstGeom>
          <a:noFill/>
        </p:spPr>
        <p:txBody>
          <a:bodyPr wrap="square" anchor="ctr">
            <a:spAutoFit/>
          </a:bodyPr>
          <a:lstStyle/>
          <a:p>
            <a:pPr algn="l">
              <a:defRPr sz="1300" b="0">
                <a:solidFill>
                  <a:srgbClr val="69707C"/>
                </a:solidFill>
                <a:latin typeface="Aptos"/>
              </a:defRPr>
            </a:pPr>
            <a:r>
              <a:t>Connect familiar products to the ML problem behind them.</a:t>
            </a:r>
          </a:p>
        </p:txBody>
      </p:sp>
      <p:sp>
        <p:nvSpPr>
          <p:cNvPr id="7" name="TextBox 6"/>
          <p:cNvSpPr txBox="1"/>
          <p:nvPr/>
        </p:nvSpPr>
        <p:spPr>
          <a:xfrm>
            <a:off x="11155680" y="292608"/>
            <a:ext cx="457200" cy="274320"/>
          </a:xfrm>
          <a:prstGeom prst="rect">
            <a:avLst/>
          </a:prstGeom>
          <a:noFill/>
        </p:spPr>
        <p:txBody>
          <a:bodyPr wrap="square" anchor="ctr">
            <a:spAutoFit/>
          </a:bodyPr>
          <a:lstStyle/>
          <a:p>
            <a:pPr algn="r">
              <a:defRPr sz="900" b="1">
                <a:solidFill>
                  <a:srgbClr val="69707C"/>
                </a:solidFill>
                <a:latin typeface="Aptos"/>
              </a:defRPr>
            </a:pPr>
            <a:r>
              <a:t>15</a:t>
            </a:r>
          </a:p>
        </p:txBody>
      </p:sp>
      <p:sp>
        <p:nvSpPr>
          <p:cNvPr id="8" name="Rounded Rectangle 7"/>
          <p:cNvSpPr/>
          <p:nvPr/>
        </p:nvSpPr>
        <p:spPr>
          <a:xfrm>
            <a:off x="594360" y="1783080"/>
            <a:ext cx="3520440" cy="1600200"/>
          </a:xfrm>
          <a:prstGeom prst="roundRect">
            <a:avLst/>
          </a:prstGeom>
          <a:solidFill>
            <a:srgbClr val="E8F0F9"/>
          </a:solidFill>
          <a:ln w="1524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911095"/>
            <a:ext cx="3191256" cy="365760"/>
          </a:xfrm>
          <a:prstGeom prst="rect">
            <a:avLst/>
          </a:prstGeom>
          <a:noFill/>
        </p:spPr>
        <p:txBody>
          <a:bodyPr wrap="square" anchor="ctr">
            <a:spAutoFit/>
          </a:bodyPr>
          <a:lstStyle/>
          <a:p>
            <a:pPr algn="l">
              <a:defRPr sz="1600" b="1">
                <a:solidFill>
                  <a:srgbClr val="2B6CB0"/>
                </a:solidFill>
                <a:latin typeface="Aptos"/>
              </a:defRPr>
            </a:pPr>
            <a:r>
              <a:t>YouTube / Netflix</a:t>
            </a:r>
          </a:p>
        </p:txBody>
      </p:sp>
      <p:sp>
        <p:nvSpPr>
          <p:cNvPr id="10" name="TextBox 9"/>
          <p:cNvSpPr txBox="1"/>
          <p:nvPr/>
        </p:nvSpPr>
        <p:spPr>
          <a:xfrm>
            <a:off x="758952" y="2350008"/>
            <a:ext cx="3191256" cy="886968"/>
          </a:xfrm>
          <a:prstGeom prst="rect">
            <a:avLst/>
          </a:prstGeom>
          <a:noFill/>
        </p:spPr>
        <p:txBody>
          <a:bodyPr wrap="square" anchor="ctr">
            <a:spAutoFit/>
          </a:bodyPr>
          <a:lstStyle/>
          <a:p>
            <a:pPr algn="l">
              <a:defRPr sz="1100" b="0">
                <a:solidFill>
                  <a:srgbClr val="282C34"/>
                </a:solidFill>
                <a:latin typeface="Aptos"/>
              </a:defRPr>
            </a:pPr>
            <a:r>
              <a:t>Recommendation</a:t>
            </a:r>
            <a:br/>
            <a:r>
              <a:t>Learns from viewing behavior and suggests content.</a:t>
            </a:r>
          </a:p>
        </p:txBody>
      </p:sp>
      <p:sp>
        <p:nvSpPr>
          <p:cNvPr id="11" name="Rounded Rectangle 10"/>
          <p:cNvSpPr/>
          <p:nvPr/>
        </p:nvSpPr>
        <p:spPr>
          <a:xfrm>
            <a:off x="4434840" y="1783080"/>
            <a:ext cx="3520440" cy="1600200"/>
          </a:xfrm>
          <a:prstGeom prst="roundRect">
            <a:avLst/>
          </a:prstGeom>
          <a:solidFill>
            <a:srgbClr val="E7F6F4"/>
          </a:solidFill>
          <a:ln w="15240">
            <a:solidFill>
              <a:srgbClr val="2089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2" y="1911095"/>
            <a:ext cx="3191256" cy="365760"/>
          </a:xfrm>
          <a:prstGeom prst="rect">
            <a:avLst/>
          </a:prstGeom>
          <a:noFill/>
        </p:spPr>
        <p:txBody>
          <a:bodyPr wrap="square" anchor="ctr">
            <a:spAutoFit/>
          </a:bodyPr>
          <a:lstStyle/>
          <a:p>
            <a:pPr algn="l">
              <a:defRPr sz="1600" b="1">
                <a:solidFill>
                  <a:srgbClr val="208984"/>
                </a:solidFill>
                <a:latin typeface="Aptos"/>
              </a:defRPr>
            </a:pPr>
            <a:r>
              <a:t>Google Maps</a:t>
            </a:r>
          </a:p>
        </p:txBody>
      </p:sp>
      <p:sp>
        <p:nvSpPr>
          <p:cNvPr id="13" name="TextBox 12"/>
          <p:cNvSpPr txBox="1"/>
          <p:nvPr/>
        </p:nvSpPr>
        <p:spPr>
          <a:xfrm>
            <a:off x="4599432" y="2350008"/>
            <a:ext cx="3191256" cy="886968"/>
          </a:xfrm>
          <a:prstGeom prst="rect">
            <a:avLst/>
          </a:prstGeom>
          <a:noFill/>
        </p:spPr>
        <p:txBody>
          <a:bodyPr wrap="square" anchor="ctr">
            <a:spAutoFit/>
          </a:bodyPr>
          <a:lstStyle/>
          <a:p>
            <a:pPr algn="l">
              <a:defRPr sz="1100" b="0">
                <a:solidFill>
                  <a:srgbClr val="282C34"/>
                </a:solidFill>
                <a:latin typeface="Aptos"/>
              </a:defRPr>
            </a:pPr>
            <a:r>
              <a:t>ETA prediction</a:t>
            </a:r>
            <a:br/>
            <a:r>
              <a:t>Uses historical + current data to estimate travel time.</a:t>
            </a:r>
          </a:p>
        </p:txBody>
      </p:sp>
      <p:sp>
        <p:nvSpPr>
          <p:cNvPr id="14" name="Rounded Rectangle 13"/>
          <p:cNvSpPr/>
          <p:nvPr/>
        </p:nvSpPr>
        <p:spPr>
          <a:xfrm>
            <a:off x="8275320" y="1783080"/>
            <a:ext cx="3520440" cy="1600200"/>
          </a:xfrm>
          <a:prstGeom prst="roundRect">
            <a:avLst/>
          </a:prstGeom>
          <a:solidFill>
            <a:srgbClr val="FBEFE1"/>
          </a:solidFill>
          <a:ln w="15240">
            <a:solidFill>
              <a:srgbClr val="E28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39912" y="1911095"/>
            <a:ext cx="3191256" cy="365760"/>
          </a:xfrm>
          <a:prstGeom prst="rect">
            <a:avLst/>
          </a:prstGeom>
          <a:noFill/>
        </p:spPr>
        <p:txBody>
          <a:bodyPr wrap="square" anchor="ctr">
            <a:spAutoFit/>
          </a:bodyPr>
          <a:lstStyle/>
          <a:p>
            <a:pPr algn="l">
              <a:defRPr sz="1600" b="1">
                <a:solidFill>
                  <a:srgbClr val="E28431"/>
                </a:solidFill>
                <a:latin typeface="Aptos"/>
              </a:defRPr>
            </a:pPr>
            <a:r>
              <a:t>Email</a:t>
            </a:r>
          </a:p>
        </p:txBody>
      </p:sp>
      <p:sp>
        <p:nvSpPr>
          <p:cNvPr id="16" name="TextBox 15"/>
          <p:cNvSpPr txBox="1"/>
          <p:nvPr/>
        </p:nvSpPr>
        <p:spPr>
          <a:xfrm>
            <a:off x="8439912" y="2350008"/>
            <a:ext cx="3191256" cy="886968"/>
          </a:xfrm>
          <a:prstGeom prst="rect">
            <a:avLst/>
          </a:prstGeom>
          <a:noFill/>
        </p:spPr>
        <p:txBody>
          <a:bodyPr wrap="square" anchor="ctr">
            <a:spAutoFit/>
          </a:bodyPr>
          <a:lstStyle/>
          <a:p>
            <a:pPr algn="l">
              <a:defRPr sz="1100" b="0">
                <a:solidFill>
                  <a:srgbClr val="282C34"/>
                </a:solidFill>
                <a:latin typeface="Aptos"/>
              </a:defRPr>
            </a:pPr>
            <a:r>
              <a:t>Spam detection</a:t>
            </a:r>
            <a:br/>
            <a:r>
              <a:t>Classifies messages as spam or not spam.</a:t>
            </a:r>
          </a:p>
        </p:txBody>
      </p:sp>
      <p:sp>
        <p:nvSpPr>
          <p:cNvPr id="17" name="Rounded Rectangle 16"/>
          <p:cNvSpPr/>
          <p:nvPr/>
        </p:nvSpPr>
        <p:spPr>
          <a:xfrm>
            <a:off x="594360" y="3749039"/>
            <a:ext cx="3520440" cy="1600200"/>
          </a:xfrm>
          <a:prstGeom prst="roundRect">
            <a:avLst/>
          </a:prstGeom>
          <a:solidFill>
            <a:srgbClr val="F0EBF8"/>
          </a:solidFill>
          <a:ln w="15240">
            <a:solidFill>
              <a:srgbClr val="715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3877055"/>
            <a:ext cx="3191256" cy="365760"/>
          </a:xfrm>
          <a:prstGeom prst="rect">
            <a:avLst/>
          </a:prstGeom>
          <a:noFill/>
        </p:spPr>
        <p:txBody>
          <a:bodyPr wrap="square" anchor="ctr">
            <a:spAutoFit/>
          </a:bodyPr>
          <a:lstStyle/>
          <a:p>
            <a:pPr algn="l">
              <a:defRPr sz="1600" b="1">
                <a:solidFill>
                  <a:srgbClr val="7153A8"/>
                </a:solidFill>
                <a:latin typeface="Aptos"/>
              </a:defRPr>
            </a:pPr>
            <a:r>
              <a:t>Phone</a:t>
            </a:r>
          </a:p>
        </p:txBody>
      </p:sp>
      <p:sp>
        <p:nvSpPr>
          <p:cNvPr id="19" name="TextBox 18"/>
          <p:cNvSpPr txBox="1"/>
          <p:nvPr/>
        </p:nvSpPr>
        <p:spPr>
          <a:xfrm>
            <a:off x="758952" y="4315968"/>
            <a:ext cx="3191256" cy="886968"/>
          </a:xfrm>
          <a:prstGeom prst="rect">
            <a:avLst/>
          </a:prstGeom>
          <a:noFill/>
        </p:spPr>
        <p:txBody>
          <a:bodyPr wrap="square" anchor="ctr">
            <a:spAutoFit/>
          </a:bodyPr>
          <a:lstStyle/>
          <a:p>
            <a:pPr algn="l">
              <a:defRPr sz="1100" b="0">
                <a:solidFill>
                  <a:srgbClr val="282C34"/>
                </a:solidFill>
                <a:latin typeface="Aptos"/>
              </a:defRPr>
            </a:pPr>
            <a:r>
              <a:t>Face unlock</a:t>
            </a:r>
            <a:br/>
            <a:r>
              <a:t>Recognizes a face using computer vision.</a:t>
            </a:r>
          </a:p>
        </p:txBody>
      </p:sp>
      <p:sp>
        <p:nvSpPr>
          <p:cNvPr id="20" name="Rounded Rectangle 19"/>
          <p:cNvSpPr/>
          <p:nvPr/>
        </p:nvSpPr>
        <p:spPr>
          <a:xfrm>
            <a:off x="4434840" y="3749039"/>
            <a:ext cx="3520440" cy="1600200"/>
          </a:xfrm>
          <a:prstGeom prst="roundRect">
            <a:avLst/>
          </a:prstGeom>
          <a:solidFill>
            <a:srgbClr val="E8F5EC"/>
          </a:solidFill>
          <a:ln w="15240">
            <a:solidFill>
              <a:srgbClr val="378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99432" y="3877055"/>
            <a:ext cx="3191256" cy="365760"/>
          </a:xfrm>
          <a:prstGeom prst="rect">
            <a:avLst/>
          </a:prstGeom>
          <a:noFill/>
        </p:spPr>
        <p:txBody>
          <a:bodyPr wrap="square" anchor="ctr">
            <a:spAutoFit/>
          </a:bodyPr>
          <a:lstStyle/>
          <a:p>
            <a:pPr algn="l">
              <a:defRPr sz="1600" b="1">
                <a:solidFill>
                  <a:srgbClr val="37895B"/>
                </a:solidFill>
                <a:latin typeface="Aptos"/>
              </a:defRPr>
            </a:pPr>
            <a:r>
              <a:t>Shopping apps</a:t>
            </a:r>
          </a:p>
        </p:txBody>
      </p:sp>
      <p:sp>
        <p:nvSpPr>
          <p:cNvPr id="22" name="TextBox 21"/>
          <p:cNvSpPr txBox="1"/>
          <p:nvPr/>
        </p:nvSpPr>
        <p:spPr>
          <a:xfrm>
            <a:off x="4599432" y="4315968"/>
            <a:ext cx="3191256" cy="886968"/>
          </a:xfrm>
          <a:prstGeom prst="rect">
            <a:avLst/>
          </a:prstGeom>
          <a:noFill/>
        </p:spPr>
        <p:txBody>
          <a:bodyPr wrap="square" anchor="ctr">
            <a:spAutoFit/>
          </a:bodyPr>
          <a:lstStyle/>
          <a:p>
            <a:pPr algn="l">
              <a:defRPr sz="1100" b="0">
                <a:solidFill>
                  <a:srgbClr val="282C34"/>
                </a:solidFill>
                <a:latin typeface="Aptos"/>
              </a:defRPr>
            </a:pPr>
            <a:r>
              <a:t>Product recommendations</a:t>
            </a:r>
            <a:br/>
            <a:r>
              <a:t>Learns preferences and ranks likely products.</a:t>
            </a:r>
          </a:p>
        </p:txBody>
      </p:sp>
      <p:sp>
        <p:nvSpPr>
          <p:cNvPr id="23" name="Rounded Rectangle 22"/>
          <p:cNvSpPr/>
          <p:nvPr/>
        </p:nvSpPr>
        <p:spPr>
          <a:xfrm>
            <a:off x="8275320" y="3749039"/>
            <a:ext cx="3520440" cy="1600200"/>
          </a:xfrm>
          <a:prstGeom prst="roundRect">
            <a:avLst/>
          </a:prstGeom>
          <a:solidFill>
            <a:srgbClr val="F9EBEB"/>
          </a:solidFill>
          <a:ln w="15240">
            <a:solidFill>
              <a:srgbClr val="BE4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39912" y="3877055"/>
            <a:ext cx="3191256" cy="365760"/>
          </a:xfrm>
          <a:prstGeom prst="rect">
            <a:avLst/>
          </a:prstGeom>
          <a:noFill/>
        </p:spPr>
        <p:txBody>
          <a:bodyPr wrap="square" anchor="ctr">
            <a:spAutoFit/>
          </a:bodyPr>
          <a:lstStyle/>
          <a:p>
            <a:pPr algn="l">
              <a:defRPr sz="1600" b="1">
                <a:solidFill>
                  <a:srgbClr val="BE4848"/>
                </a:solidFill>
                <a:latin typeface="Aptos"/>
              </a:defRPr>
            </a:pPr>
            <a:r>
              <a:t>Banking / UPI</a:t>
            </a:r>
          </a:p>
        </p:txBody>
      </p:sp>
      <p:sp>
        <p:nvSpPr>
          <p:cNvPr id="25" name="TextBox 24"/>
          <p:cNvSpPr txBox="1"/>
          <p:nvPr/>
        </p:nvSpPr>
        <p:spPr>
          <a:xfrm>
            <a:off x="8439912" y="4315968"/>
            <a:ext cx="3191256" cy="886968"/>
          </a:xfrm>
          <a:prstGeom prst="rect">
            <a:avLst/>
          </a:prstGeom>
          <a:noFill/>
        </p:spPr>
        <p:txBody>
          <a:bodyPr wrap="square" anchor="ctr">
            <a:spAutoFit/>
          </a:bodyPr>
          <a:lstStyle/>
          <a:p>
            <a:pPr algn="l">
              <a:defRPr sz="1100" b="0">
                <a:solidFill>
                  <a:srgbClr val="282C34"/>
                </a:solidFill>
                <a:latin typeface="Aptos"/>
              </a:defRPr>
            </a:pPr>
            <a:r>
              <a:t>Fraud detection</a:t>
            </a:r>
            <a:br/>
            <a:r>
              <a:t>Detects suspicious transaction patterns.</a:t>
            </a:r>
          </a:p>
        </p:txBody>
      </p:sp>
      <p:sp>
        <p:nvSpPr>
          <p:cNvPr id="26" name="TextBox 25"/>
          <p:cNvSpPr txBox="1"/>
          <p:nvPr/>
        </p:nvSpPr>
        <p:spPr>
          <a:xfrm>
            <a:off x="594360" y="6446520"/>
            <a:ext cx="5486400" cy="228600"/>
          </a:xfrm>
          <a:prstGeom prst="rect">
            <a:avLst/>
          </a:prstGeom>
          <a:noFill/>
        </p:spPr>
        <p:txBody>
          <a:bodyPr wrap="square" anchor="ctr">
            <a:spAutoFit/>
          </a:bodyPr>
          <a:lstStyle/>
          <a:p>
            <a:pPr algn="l">
              <a:defRPr sz="800" b="0">
                <a:solidFill>
                  <a:srgbClr val="69707C"/>
                </a:solidFill>
                <a:latin typeface="Aptos"/>
              </a:defRPr>
            </a:pPr>
            <a:r>
              <a:t>AI &amp; Machine Learning • Classroom Deck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256032"/>
            <a:ext cx="1417320" cy="384048"/>
          </a:xfrm>
          <a:prstGeom prst="roundRect">
            <a:avLst/>
          </a:prstGeom>
          <a:solidFill>
            <a:srgbClr val="7153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265176"/>
            <a:ext cx="1362456" cy="347472"/>
          </a:xfrm>
          <a:prstGeom prst="rect">
            <a:avLst/>
          </a:prstGeom>
          <a:noFill/>
        </p:spPr>
        <p:txBody>
          <a:bodyPr wrap="square" anchor="ctr">
            <a:spAutoFit/>
          </a:bodyPr>
          <a:lstStyle/>
          <a:p>
            <a:pPr algn="ctr">
              <a:defRPr sz="1000" b="1">
                <a:solidFill>
                  <a:srgbClr val="FFFFFF"/>
                </a:solidFill>
                <a:latin typeface="Aptos"/>
              </a:defRPr>
            </a:pPr>
            <a:r>
              <a:t>INTERACTIVE</a:t>
            </a:r>
          </a:p>
        </p:txBody>
      </p:sp>
      <p:sp>
        <p:nvSpPr>
          <p:cNvPr id="5" name="TextBox 4"/>
          <p:cNvSpPr txBox="1"/>
          <p:nvPr/>
        </p:nvSpPr>
        <p:spPr>
          <a:xfrm>
            <a:off x="594360" y="749808"/>
            <a:ext cx="10972800" cy="621792"/>
          </a:xfrm>
          <a:prstGeom prst="rect">
            <a:avLst/>
          </a:prstGeom>
          <a:noFill/>
        </p:spPr>
        <p:txBody>
          <a:bodyPr wrap="square" anchor="ctr">
            <a:spAutoFit/>
          </a:bodyPr>
          <a:lstStyle/>
          <a:p>
            <a:pPr algn="l">
              <a:defRPr sz="2900" b="1">
                <a:solidFill>
                  <a:srgbClr val="1B2B4B"/>
                </a:solidFill>
                <a:latin typeface="Aptos Display"/>
              </a:defRPr>
            </a:pPr>
            <a:r>
              <a:t>Is this ML? — classroom challenge</a:t>
            </a:r>
          </a:p>
        </p:txBody>
      </p:sp>
      <p:sp>
        <p:nvSpPr>
          <p:cNvPr id="6" name="TextBox 5"/>
          <p:cNvSpPr txBox="1"/>
          <p:nvPr/>
        </p:nvSpPr>
        <p:spPr>
          <a:xfrm>
            <a:off x="621792" y="1353312"/>
            <a:ext cx="10789920" cy="384048"/>
          </a:xfrm>
          <a:prstGeom prst="rect">
            <a:avLst/>
          </a:prstGeom>
          <a:noFill/>
        </p:spPr>
        <p:txBody>
          <a:bodyPr wrap="square" anchor="ctr">
            <a:spAutoFit/>
          </a:bodyPr>
          <a:lstStyle/>
          <a:p>
            <a:pPr algn="l">
              <a:defRPr sz="1300" b="0">
                <a:solidFill>
                  <a:srgbClr val="69707C"/>
                </a:solidFill>
                <a:latin typeface="Aptos"/>
              </a:defRPr>
            </a:pPr>
            <a:r>
              <a:t>Students vote first, then explain their reasoning.</a:t>
            </a:r>
          </a:p>
        </p:txBody>
      </p:sp>
      <p:sp>
        <p:nvSpPr>
          <p:cNvPr id="7" name="TextBox 6"/>
          <p:cNvSpPr txBox="1"/>
          <p:nvPr/>
        </p:nvSpPr>
        <p:spPr>
          <a:xfrm>
            <a:off x="11155680" y="292608"/>
            <a:ext cx="457200" cy="274320"/>
          </a:xfrm>
          <a:prstGeom prst="rect">
            <a:avLst/>
          </a:prstGeom>
          <a:noFill/>
        </p:spPr>
        <p:txBody>
          <a:bodyPr wrap="square" anchor="ctr">
            <a:spAutoFit/>
          </a:bodyPr>
          <a:lstStyle/>
          <a:p>
            <a:pPr algn="r">
              <a:defRPr sz="900" b="1">
                <a:solidFill>
                  <a:srgbClr val="69707C"/>
                </a:solidFill>
                <a:latin typeface="Aptos"/>
              </a:defRPr>
            </a:pPr>
            <a:r>
              <a:t>16</a:t>
            </a:r>
          </a:p>
        </p:txBody>
      </p:sp>
      <p:sp>
        <p:nvSpPr>
          <p:cNvPr id="8" name="Rounded Rectangle 7"/>
          <p:cNvSpPr/>
          <p:nvPr/>
        </p:nvSpPr>
        <p:spPr>
          <a:xfrm>
            <a:off x="594360" y="1783080"/>
            <a:ext cx="5257800" cy="1143000"/>
          </a:xfrm>
          <a:prstGeom prst="roundRect">
            <a:avLst/>
          </a:prstGeom>
          <a:solidFill>
            <a:srgbClr val="FFFFFF"/>
          </a:solidFill>
          <a:ln w="15240">
            <a:solidFill>
              <a:srgbClr val="715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911095"/>
            <a:ext cx="4928616" cy="365760"/>
          </a:xfrm>
          <a:prstGeom prst="rect">
            <a:avLst/>
          </a:prstGeom>
          <a:noFill/>
        </p:spPr>
        <p:txBody>
          <a:bodyPr wrap="square" anchor="ctr">
            <a:spAutoFit/>
          </a:bodyPr>
          <a:lstStyle/>
          <a:p>
            <a:pPr algn="l">
              <a:defRPr sz="1500" b="1">
                <a:solidFill>
                  <a:srgbClr val="7153A8"/>
                </a:solidFill>
                <a:latin typeface="Aptos"/>
              </a:defRPr>
            </a:pPr>
            <a:r>
              <a:t>A</a:t>
            </a:r>
          </a:p>
        </p:txBody>
      </p:sp>
      <p:sp>
        <p:nvSpPr>
          <p:cNvPr id="10" name="TextBox 9"/>
          <p:cNvSpPr txBox="1"/>
          <p:nvPr/>
        </p:nvSpPr>
        <p:spPr>
          <a:xfrm>
            <a:off x="758952" y="2350008"/>
            <a:ext cx="4928616" cy="429768"/>
          </a:xfrm>
          <a:prstGeom prst="rect">
            <a:avLst/>
          </a:prstGeom>
          <a:noFill/>
        </p:spPr>
        <p:txBody>
          <a:bodyPr wrap="square" anchor="ctr">
            <a:spAutoFit/>
          </a:bodyPr>
          <a:lstStyle/>
          <a:p>
            <a:pPr algn="l">
              <a:defRPr sz="1200" b="0">
                <a:solidFill>
                  <a:srgbClr val="282C34"/>
                </a:solidFill>
                <a:latin typeface="Aptos"/>
              </a:defRPr>
            </a:pPr>
            <a:r>
              <a:t>Calculator computes 25 × 10</a:t>
            </a:r>
            <a:br/>
            <a:r>
              <a:t>ML?</a:t>
            </a:r>
          </a:p>
        </p:txBody>
      </p:sp>
      <p:sp>
        <p:nvSpPr>
          <p:cNvPr id="11" name="Rounded Rectangle 10"/>
          <p:cNvSpPr/>
          <p:nvPr/>
        </p:nvSpPr>
        <p:spPr>
          <a:xfrm>
            <a:off x="6217920" y="1783080"/>
            <a:ext cx="5257800" cy="1143000"/>
          </a:xfrm>
          <a:prstGeom prst="roundRect">
            <a:avLst/>
          </a:prstGeom>
          <a:solidFill>
            <a:srgbClr val="FFFFFF"/>
          </a:solidFill>
          <a:ln w="15240">
            <a:solidFill>
              <a:srgbClr val="715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1911095"/>
            <a:ext cx="4928616" cy="365760"/>
          </a:xfrm>
          <a:prstGeom prst="rect">
            <a:avLst/>
          </a:prstGeom>
          <a:noFill/>
        </p:spPr>
        <p:txBody>
          <a:bodyPr wrap="square" anchor="ctr">
            <a:spAutoFit/>
          </a:bodyPr>
          <a:lstStyle/>
          <a:p>
            <a:pPr algn="l">
              <a:defRPr sz="1500" b="1">
                <a:solidFill>
                  <a:srgbClr val="7153A8"/>
                </a:solidFill>
                <a:latin typeface="Aptos"/>
              </a:defRPr>
            </a:pPr>
            <a:r>
              <a:t>B</a:t>
            </a:r>
          </a:p>
        </p:txBody>
      </p:sp>
      <p:sp>
        <p:nvSpPr>
          <p:cNvPr id="13" name="TextBox 12"/>
          <p:cNvSpPr txBox="1"/>
          <p:nvPr/>
        </p:nvSpPr>
        <p:spPr>
          <a:xfrm>
            <a:off x="6382512" y="2350008"/>
            <a:ext cx="4928616" cy="429768"/>
          </a:xfrm>
          <a:prstGeom prst="rect">
            <a:avLst/>
          </a:prstGeom>
          <a:noFill/>
        </p:spPr>
        <p:txBody>
          <a:bodyPr wrap="square" anchor="ctr">
            <a:spAutoFit/>
          </a:bodyPr>
          <a:lstStyle/>
          <a:p>
            <a:pPr algn="l">
              <a:defRPr sz="1200" b="0">
                <a:solidFill>
                  <a:srgbClr val="282C34"/>
                </a:solidFill>
                <a:latin typeface="Aptos"/>
              </a:defRPr>
            </a:pPr>
            <a:r>
              <a:t>Gmail identifies spam</a:t>
            </a:r>
            <a:br/>
            <a:r>
              <a:t>ML?</a:t>
            </a:r>
          </a:p>
        </p:txBody>
      </p:sp>
      <p:sp>
        <p:nvSpPr>
          <p:cNvPr id="14" name="Rounded Rectangle 13"/>
          <p:cNvSpPr/>
          <p:nvPr/>
        </p:nvSpPr>
        <p:spPr>
          <a:xfrm>
            <a:off x="594360" y="3200400"/>
            <a:ext cx="5257800" cy="1143000"/>
          </a:xfrm>
          <a:prstGeom prst="roundRect">
            <a:avLst/>
          </a:prstGeom>
          <a:solidFill>
            <a:srgbClr val="FFFFFF"/>
          </a:solidFill>
          <a:ln w="15240">
            <a:solidFill>
              <a:srgbClr val="715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328416"/>
            <a:ext cx="4928616" cy="365760"/>
          </a:xfrm>
          <a:prstGeom prst="rect">
            <a:avLst/>
          </a:prstGeom>
          <a:noFill/>
        </p:spPr>
        <p:txBody>
          <a:bodyPr wrap="square" anchor="ctr">
            <a:spAutoFit/>
          </a:bodyPr>
          <a:lstStyle/>
          <a:p>
            <a:pPr algn="l">
              <a:defRPr sz="1500" b="1">
                <a:solidFill>
                  <a:srgbClr val="7153A8"/>
                </a:solidFill>
                <a:latin typeface="Aptos"/>
              </a:defRPr>
            </a:pPr>
            <a:r>
              <a:t>C</a:t>
            </a:r>
          </a:p>
        </p:txBody>
      </p:sp>
      <p:sp>
        <p:nvSpPr>
          <p:cNvPr id="16" name="TextBox 15"/>
          <p:cNvSpPr txBox="1"/>
          <p:nvPr/>
        </p:nvSpPr>
        <p:spPr>
          <a:xfrm>
            <a:off x="758952" y="3767328"/>
            <a:ext cx="4928616" cy="429768"/>
          </a:xfrm>
          <a:prstGeom prst="rect">
            <a:avLst/>
          </a:prstGeom>
          <a:noFill/>
        </p:spPr>
        <p:txBody>
          <a:bodyPr wrap="square" anchor="ctr">
            <a:spAutoFit/>
          </a:bodyPr>
          <a:lstStyle/>
          <a:p>
            <a:pPr algn="l">
              <a:defRPr sz="1200" b="0">
                <a:solidFill>
                  <a:srgbClr val="282C34"/>
                </a:solidFill>
                <a:latin typeface="Aptos"/>
              </a:defRPr>
            </a:pPr>
            <a:r>
              <a:t>Alarm rings every day at 7 AM</a:t>
            </a:r>
            <a:br/>
            <a:r>
              <a:t>ML?</a:t>
            </a:r>
          </a:p>
        </p:txBody>
      </p:sp>
      <p:sp>
        <p:nvSpPr>
          <p:cNvPr id="17" name="Rounded Rectangle 16"/>
          <p:cNvSpPr/>
          <p:nvPr/>
        </p:nvSpPr>
        <p:spPr>
          <a:xfrm>
            <a:off x="6217920" y="3200400"/>
            <a:ext cx="5257800" cy="1143000"/>
          </a:xfrm>
          <a:prstGeom prst="roundRect">
            <a:avLst/>
          </a:prstGeom>
          <a:solidFill>
            <a:srgbClr val="FFFFFF"/>
          </a:solidFill>
          <a:ln w="15240">
            <a:solidFill>
              <a:srgbClr val="715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3328416"/>
            <a:ext cx="4928616" cy="365760"/>
          </a:xfrm>
          <a:prstGeom prst="rect">
            <a:avLst/>
          </a:prstGeom>
          <a:noFill/>
        </p:spPr>
        <p:txBody>
          <a:bodyPr wrap="square" anchor="ctr">
            <a:spAutoFit/>
          </a:bodyPr>
          <a:lstStyle/>
          <a:p>
            <a:pPr algn="l">
              <a:defRPr sz="1500" b="1">
                <a:solidFill>
                  <a:srgbClr val="7153A8"/>
                </a:solidFill>
                <a:latin typeface="Aptos"/>
              </a:defRPr>
            </a:pPr>
            <a:r>
              <a:t>D</a:t>
            </a:r>
          </a:p>
        </p:txBody>
      </p:sp>
      <p:sp>
        <p:nvSpPr>
          <p:cNvPr id="19" name="TextBox 18"/>
          <p:cNvSpPr txBox="1"/>
          <p:nvPr/>
        </p:nvSpPr>
        <p:spPr>
          <a:xfrm>
            <a:off x="6382512" y="3767328"/>
            <a:ext cx="4928616" cy="429768"/>
          </a:xfrm>
          <a:prstGeom prst="rect">
            <a:avLst/>
          </a:prstGeom>
          <a:noFill/>
        </p:spPr>
        <p:txBody>
          <a:bodyPr wrap="square" anchor="ctr">
            <a:spAutoFit/>
          </a:bodyPr>
          <a:lstStyle/>
          <a:p>
            <a:pPr algn="l">
              <a:defRPr sz="1200" b="0">
                <a:solidFill>
                  <a:srgbClr val="282C34"/>
                </a:solidFill>
                <a:latin typeface="Aptos"/>
              </a:defRPr>
            </a:pPr>
            <a:r>
              <a:t>YouTube recommends your next video</a:t>
            </a:r>
            <a:br/>
            <a:r>
              <a:t>ML?</a:t>
            </a:r>
          </a:p>
        </p:txBody>
      </p:sp>
      <p:sp>
        <p:nvSpPr>
          <p:cNvPr id="20" name="Rounded Rectangle 19"/>
          <p:cNvSpPr/>
          <p:nvPr/>
        </p:nvSpPr>
        <p:spPr>
          <a:xfrm>
            <a:off x="594360" y="4617720"/>
            <a:ext cx="5257800" cy="1143000"/>
          </a:xfrm>
          <a:prstGeom prst="roundRect">
            <a:avLst/>
          </a:prstGeom>
          <a:solidFill>
            <a:srgbClr val="FFFFFF"/>
          </a:solidFill>
          <a:ln w="15240">
            <a:solidFill>
              <a:srgbClr val="715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 y="4745736"/>
            <a:ext cx="4928616" cy="365760"/>
          </a:xfrm>
          <a:prstGeom prst="rect">
            <a:avLst/>
          </a:prstGeom>
          <a:noFill/>
        </p:spPr>
        <p:txBody>
          <a:bodyPr wrap="square" anchor="ctr">
            <a:spAutoFit/>
          </a:bodyPr>
          <a:lstStyle/>
          <a:p>
            <a:pPr algn="l">
              <a:defRPr sz="1500" b="1">
                <a:solidFill>
                  <a:srgbClr val="7153A8"/>
                </a:solidFill>
                <a:latin typeface="Aptos"/>
              </a:defRPr>
            </a:pPr>
            <a:r>
              <a:t>E</a:t>
            </a:r>
          </a:p>
        </p:txBody>
      </p:sp>
      <p:sp>
        <p:nvSpPr>
          <p:cNvPr id="22" name="TextBox 21"/>
          <p:cNvSpPr txBox="1"/>
          <p:nvPr/>
        </p:nvSpPr>
        <p:spPr>
          <a:xfrm>
            <a:off x="758952" y="5184648"/>
            <a:ext cx="4928616" cy="429768"/>
          </a:xfrm>
          <a:prstGeom prst="rect">
            <a:avLst/>
          </a:prstGeom>
          <a:noFill/>
        </p:spPr>
        <p:txBody>
          <a:bodyPr wrap="square" anchor="ctr">
            <a:spAutoFit/>
          </a:bodyPr>
          <a:lstStyle/>
          <a:p>
            <a:pPr algn="l">
              <a:defRPr sz="1200" b="0">
                <a:solidFill>
                  <a:srgbClr val="282C34"/>
                </a:solidFill>
                <a:latin typeface="Aptos"/>
              </a:defRPr>
            </a:pPr>
            <a:r>
              <a:t>Phone recognizes your face</a:t>
            </a:r>
            <a:br/>
            <a:r>
              <a:t>ML?</a:t>
            </a:r>
          </a:p>
        </p:txBody>
      </p:sp>
      <p:sp>
        <p:nvSpPr>
          <p:cNvPr id="23" name="Rounded Rectangle 22"/>
          <p:cNvSpPr/>
          <p:nvPr/>
        </p:nvSpPr>
        <p:spPr>
          <a:xfrm>
            <a:off x="6217920" y="4617720"/>
            <a:ext cx="5257800" cy="1143000"/>
          </a:xfrm>
          <a:prstGeom prst="roundRect">
            <a:avLst/>
          </a:prstGeom>
          <a:solidFill>
            <a:srgbClr val="FFFFFF"/>
          </a:solidFill>
          <a:ln w="15240">
            <a:solidFill>
              <a:srgbClr val="715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82512" y="4745736"/>
            <a:ext cx="4928616" cy="365760"/>
          </a:xfrm>
          <a:prstGeom prst="rect">
            <a:avLst/>
          </a:prstGeom>
          <a:noFill/>
        </p:spPr>
        <p:txBody>
          <a:bodyPr wrap="square" anchor="ctr">
            <a:spAutoFit/>
          </a:bodyPr>
          <a:lstStyle/>
          <a:p>
            <a:pPr algn="l">
              <a:defRPr sz="1500" b="1">
                <a:solidFill>
                  <a:srgbClr val="7153A8"/>
                </a:solidFill>
                <a:latin typeface="Aptos"/>
              </a:defRPr>
            </a:pPr>
            <a:r>
              <a:t>F</a:t>
            </a:r>
          </a:p>
        </p:txBody>
      </p:sp>
      <p:sp>
        <p:nvSpPr>
          <p:cNvPr id="25" name="TextBox 24"/>
          <p:cNvSpPr txBox="1"/>
          <p:nvPr/>
        </p:nvSpPr>
        <p:spPr>
          <a:xfrm>
            <a:off x="6382512" y="5184648"/>
            <a:ext cx="4928616" cy="429768"/>
          </a:xfrm>
          <a:prstGeom prst="rect">
            <a:avLst/>
          </a:prstGeom>
          <a:noFill/>
        </p:spPr>
        <p:txBody>
          <a:bodyPr wrap="square" anchor="ctr">
            <a:spAutoFit/>
          </a:bodyPr>
          <a:lstStyle/>
          <a:p>
            <a:pPr algn="l">
              <a:defRPr sz="1200" b="0">
                <a:solidFill>
                  <a:srgbClr val="282C34"/>
                </a:solidFill>
                <a:latin typeface="Aptos"/>
              </a:defRPr>
            </a:pPr>
            <a:r>
              <a:t>A fixed rule says: if temperature &gt; 30°C, turn on fan</a:t>
            </a:r>
            <a:br/>
            <a:r>
              <a:t>ML?</a:t>
            </a:r>
          </a:p>
        </p:txBody>
      </p:sp>
      <p:sp>
        <p:nvSpPr>
          <p:cNvPr id="26" name="TextBox 25"/>
          <p:cNvSpPr txBox="1"/>
          <p:nvPr/>
        </p:nvSpPr>
        <p:spPr>
          <a:xfrm>
            <a:off x="777240" y="5989320"/>
            <a:ext cx="10515600" cy="320040"/>
          </a:xfrm>
          <a:prstGeom prst="rect">
            <a:avLst/>
          </a:prstGeom>
          <a:noFill/>
        </p:spPr>
        <p:txBody>
          <a:bodyPr wrap="square" anchor="ctr">
            <a:spAutoFit/>
          </a:bodyPr>
          <a:lstStyle/>
          <a:p>
            <a:pPr algn="ctr">
              <a:defRPr sz="1300" b="1">
                <a:solidFill>
                  <a:srgbClr val="1B2B4B"/>
                </a:solidFill>
                <a:latin typeface="Aptos"/>
              </a:defRPr>
            </a:pPr>
            <a:r>
              <a:t>Debrief: ML learns patterns from data; a fixed rule does not learn from examples.</a:t>
            </a:r>
          </a:p>
        </p:txBody>
      </p:sp>
      <p:sp>
        <p:nvSpPr>
          <p:cNvPr id="27" name="TextBox 26"/>
          <p:cNvSpPr txBox="1"/>
          <p:nvPr/>
        </p:nvSpPr>
        <p:spPr>
          <a:xfrm>
            <a:off x="594360" y="6446520"/>
            <a:ext cx="5486400" cy="228600"/>
          </a:xfrm>
          <a:prstGeom prst="rect">
            <a:avLst/>
          </a:prstGeom>
          <a:noFill/>
        </p:spPr>
        <p:txBody>
          <a:bodyPr wrap="square" anchor="ctr">
            <a:spAutoFit/>
          </a:bodyPr>
          <a:lstStyle/>
          <a:p>
            <a:pPr algn="l">
              <a:defRPr sz="800" b="0">
                <a:solidFill>
                  <a:srgbClr val="69707C"/>
                </a:solidFill>
                <a:latin typeface="Aptos"/>
              </a:defRPr>
            </a:pPr>
            <a:r>
              <a:t>Interactive vote • ask “Why?” before giving the answer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256032"/>
            <a:ext cx="1417320" cy="384048"/>
          </a:xfrm>
          <a:prstGeom prst="roundRect">
            <a:avLst/>
          </a:prstGeom>
          <a:solidFill>
            <a:srgbClr val="2089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265176"/>
            <a:ext cx="1362456" cy="347472"/>
          </a:xfrm>
          <a:prstGeom prst="rect">
            <a:avLst/>
          </a:prstGeom>
          <a:noFill/>
        </p:spPr>
        <p:txBody>
          <a:bodyPr wrap="square" anchor="ctr">
            <a:spAutoFit/>
          </a:bodyPr>
          <a:lstStyle/>
          <a:p>
            <a:pPr algn="ctr">
              <a:defRPr sz="1000" b="1">
                <a:solidFill>
                  <a:srgbClr val="FFFFFF"/>
                </a:solidFill>
                <a:latin typeface="Aptos"/>
              </a:defRPr>
            </a:pPr>
            <a:r>
              <a:t>ACTIVITY</a:t>
            </a:r>
          </a:p>
        </p:txBody>
      </p:sp>
      <p:sp>
        <p:nvSpPr>
          <p:cNvPr id="5" name="TextBox 4"/>
          <p:cNvSpPr txBox="1"/>
          <p:nvPr/>
        </p:nvSpPr>
        <p:spPr>
          <a:xfrm>
            <a:off x="594360" y="749808"/>
            <a:ext cx="10972800" cy="621792"/>
          </a:xfrm>
          <a:prstGeom prst="rect">
            <a:avLst/>
          </a:prstGeom>
          <a:noFill/>
        </p:spPr>
        <p:txBody>
          <a:bodyPr wrap="square" anchor="ctr">
            <a:spAutoFit/>
          </a:bodyPr>
          <a:lstStyle/>
          <a:p>
            <a:pPr algn="l">
              <a:defRPr sz="2900" b="1">
                <a:solidFill>
                  <a:srgbClr val="1B2B4B"/>
                </a:solidFill>
                <a:latin typeface="Aptos Display"/>
              </a:defRPr>
            </a:pPr>
            <a:r>
              <a:t>Identify the ML problem type</a:t>
            </a:r>
          </a:p>
        </p:txBody>
      </p:sp>
      <p:sp>
        <p:nvSpPr>
          <p:cNvPr id="6" name="TextBox 5"/>
          <p:cNvSpPr txBox="1"/>
          <p:nvPr/>
        </p:nvSpPr>
        <p:spPr>
          <a:xfrm>
            <a:off x="621792" y="1353312"/>
            <a:ext cx="10789920" cy="384048"/>
          </a:xfrm>
          <a:prstGeom prst="rect">
            <a:avLst/>
          </a:prstGeom>
          <a:noFill/>
        </p:spPr>
        <p:txBody>
          <a:bodyPr wrap="square" anchor="ctr">
            <a:spAutoFit/>
          </a:bodyPr>
          <a:lstStyle/>
          <a:p>
            <a:pPr algn="l">
              <a:defRPr sz="1300" b="0">
                <a:solidFill>
                  <a:srgbClr val="69707C"/>
                </a:solidFill>
                <a:latin typeface="Aptos"/>
              </a:defRPr>
            </a:pPr>
            <a:r>
              <a:t>Match each everyday application with the most appropriate learning setup.</a:t>
            </a:r>
          </a:p>
        </p:txBody>
      </p:sp>
      <p:sp>
        <p:nvSpPr>
          <p:cNvPr id="7" name="TextBox 6"/>
          <p:cNvSpPr txBox="1"/>
          <p:nvPr/>
        </p:nvSpPr>
        <p:spPr>
          <a:xfrm>
            <a:off x="11155680" y="292608"/>
            <a:ext cx="457200" cy="274320"/>
          </a:xfrm>
          <a:prstGeom prst="rect">
            <a:avLst/>
          </a:prstGeom>
          <a:noFill/>
        </p:spPr>
        <p:txBody>
          <a:bodyPr wrap="square" anchor="ctr">
            <a:spAutoFit/>
          </a:bodyPr>
          <a:lstStyle/>
          <a:p>
            <a:pPr algn="r">
              <a:defRPr sz="900" b="1">
                <a:solidFill>
                  <a:srgbClr val="69707C"/>
                </a:solidFill>
                <a:latin typeface="Aptos"/>
              </a:defRPr>
            </a:pPr>
            <a:r>
              <a:t>17</a:t>
            </a:r>
          </a:p>
        </p:txBody>
      </p:sp>
      <p:sp>
        <p:nvSpPr>
          <p:cNvPr id="8" name="Rounded Rectangle 7"/>
          <p:cNvSpPr/>
          <p:nvPr/>
        </p:nvSpPr>
        <p:spPr>
          <a:xfrm>
            <a:off x="640080" y="1691640"/>
            <a:ext cx="3474720" cy="658368"/>
          </a:xfrm>
          <a:prstGeom prst="roundRect">
            <a:avLst/>
          </a:prstGeom>
          <a:solidFill>
            <a:srgbClr val="FFFFFF"/>
          </a:solidFill>
          <a:ln w="1524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1819656"/>
            <a:ext cx="3145536" cy="365760"/>
          </a:xfrm>
          <a:prstGeom prst="rect">
            <a:avLst/>
          </a:prstGeom>
          <a:noFill/>
        </p:spPr>
        <p:txBody>
          <a:bodyPr wrap="square" anchor="ctr">
            <a:spAutoFit/>
          </a:bodyPr>
          <a:lstStyle/>
          <a:p>
            <a:pPr algn="l">
              <a:defRPr sz="1400" b="1">
                <a:solidFill>
                  <a:srgbClr val="2B6CB0"/>
                </a:solidFill>
                <a:latin typeface="Aptos"/>
              </a:defRPr>
            </a:pPr>
            <a:r>
              <a:t>Spam detection</a:t>
            </a:r>
          </a:p>
        </p:txBody>
      </p:sp>
      <p:sp>
        <p:nvSpPr>
          <p:cNvPr id="10" name="TextBox 9"/>
          <p:cNvSpPr txBox="1"/>
          <p:nvPr/>
        </p:nvSpPr>
        <p:spPr>
          <a:xfrm>
            <a:off x="804671" y="2258568"/>
            <a:ext cx="3145536" cy="-54864"/>
          </a:xfrm>
          <a:prstGeom prst="rect">
            <a:avLst/>
          </a:prstGeom>
          <a:noFill/>
        </p:spPr>
        <p:txBody>
          <a:bodyPr wrap="square" anchor="ctr">
            <a:spAutoFit/>
          </a:bodyPr>
          <a:lstStyle/>
          <a:p>
            <a:pPr algn="l">
              <a:defRPr sz="1000" b="0">
                <a:solidFill>
                  <a:srgbClr val="282C34"/>
                </a:solidFill>
                <a:latin typeface="Aptos"/>
              </a:defRPr>
            </a:pPr>
          </a:p>
        </p:txBody>
      </p:sp>
      <p:sp>
        <p:nvSpPr>
          <p:cNvPr id="11" name="Rounded Rectangle 10"/>
          <p:cNvSpPr/>
          <p:nvPr/>
        </p:nvSpPr>
        <p:spPr>
          <a:xfrm>
            <a:off x="4315968" y="1691640"/>
            <a:ext cx="2971800" cy="658368"/>
          </a:xfrm>
          <a:prstGeom prst="roundRect">
            <a:avLst/>
          </a:prstGeom>
          <a:solidFill>
            <a:srgbClr val="FBEFE1"/>
          </a:solidFill>
          <a:ln w="15240">
            <a:solidFill>
              <a:srgbClr val="E28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59" y="1819656"/>
            <a:ext cx="2642616" cy="365760"/>
          </a:xfrm>
          <a:prstGeom prst="rect">
            <a:avLst/>
          </a:prstGeom>
          <a:noFill/>
        </p:spPr>
        <p:txBody>
          <a:bodyPr wrap="square" anchor="ctr">
            <a:spAutoFit/>
          </a:bodyPr>
          <a:lstStyle/>
          <a:p>
            <a:pPr algn="l">
              <a:defRPr sz="1300" b="1">
                <a:solidFill>
                  <a:srgbClr val="E28431"/>
                </a:solidFill>
                <a:latin typeface="Aptos"/>
              </a:defRPr>
            </a:pPr>
            <a:r>
              <a:t>Classification</a:t>
            </a:r>
          </a:p>
        </p:txBody>
      </p:sp>
      <p:sp>
        <p:nvSpPr>
          <p:cNvPr id="13" name="TextBox 12"/>
          <p:cNvSpPr txBox="1"/>
          <p:nvPr/>
        </p:nvSpPr>
        <p:spPr>
          <a:xfrm>
            <a:off x="4480559" y="2258568"/>
            <a:ext cx="2642616" cy="-54864"/>
          </a:xfrm>
          <a:prstGeom prst="rect">
            <a:avLst/>
          </a:prstGeom>
          <a:noFill/>
        </p:spPr>
        <p:txBody>
          <a:bodyPr wrap="square" anchor="ctr">
            <a:spAutoFit/>
          </a:bodyPr>
          <a:lstStyle/>
          <a:p>
            <a:pPr algn="l">
              <a:defRPr sz="1000" b="0">
                <a:solidFill>
                  <a:srgbClr val="282C34"/>
                </a:solidFill>
                <a:latin typeface="Aptos"/>
              </a:defRPr>
            </a:pPr>
          </a:p>
        </p:txBody>
      </p:sp>
      <p:sp>
        <p:nvSpPr>
          <p:cNvPr id="14" name="Rounded Rectangle 13"/>
          <p:cNvSpPr/>
          <p:nvPr/>
        </p:nvSpPr>
        <p:spPr>
          <a:xfrm>
            <a:off x="7498079" y="1691640"/>
            <a:ext cx="4023360" cy="658368"/>
          </a:xfrm>
          <a:prstGeom prst="roundRect">
            <a:avLst/>
          </a:prstGeom>
          <a:solidFill>
            <a:srgbClr val="F0EBF8"/>
          </a:solidFill>
          <a:ln w="15240">
            <a:solidFill>
              <a:srgbClr val="715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62671" y="1819656"/>
            <a:ext cx="3694176" cy="365760"/>
          </a:xfrm>
          <a:prstGeom prst="rect">
            <a:avLst/>
          </a:prstGeom>
          <a:noFill/>
        </p:spPr>
        <p:txBody>
          <a:bodyPr wrap="square" anchor="ctr">
            <a:spAutoFit/>
          </a:bodyPr>
          <a:lstStyle/>
          <a:p>
            <a:pPr algn="l">
              <a:defRPr sz="1300" b="1">
                <a:solidFill>
                  <a:srgbClr val="7153A8"/>
                </a:solidFill>
                <a:latin typeface="Aptos"/>
              </a:defRPr>
            </a:pPr>
            <a:r>
              <a:t>Predict a category</a:t>
            </a:r>
          </a:p>
        </p:txBody>
      </p:sp>
      <p:sp>
        <p:nvSpPr>
          <p:cNvPr id="16" name="TextBox 15"/>
          <p:cNvSpPr txBox="1"/>
          <p:nvPr/>
        </p:nvSpPr>
        <p:spPr>
          <a:xfrm>
            <a:off x="7662671" y="2258568"/>
            <a:ext cx="3694176" cy="-54864"/>
          </a:xfrm>
          <a:prstGeom prst="rect">
            <a:avLst/>
          </a:prstGeom>
          <a:noFill/>
        </p:spPr>
        <p:txBody>
          <a:bodyPr wrap="square" anchor="ctr">
            <a:spAutoFit/>
          </a:bodyPr>
          <a:lstStyle/>
          <a:p>
            <a:pPr algn="l">
              <a:defRPr sz="1000" b="0">
                <a:solidFill>
                  <a:srgbClr val="282C34"/>
                </a:solidFill>
                <a:latin typeface="Aptos"/>
              </a:defRPr>
            </a:pPr>
          </a:p>
        </p:txBody>
      </p:sp>
      <p:sp>
        <p:nvSpPr>
          <p:cNvPr id="17" name="Rounded Rectangle 16"/>
          <p:cNvSpPr/>
          <p:nvPr/>
        </p:nvSpPr>
        <p:spPr>
          <a:xfrm>
            <a:off x="640080" y="2441448"/>
            <a:ext cx="3474720" cy="658368"/>
          </a:xfrm>
          <a:prstGeom prst="roundRect">
            <a:avLst/>
          </a:prstGeom>
          <a:solidFill>
            <a:srgbClr val="FFFFFF"/>
          </a:solidFill>
          <a:ln w="15240">
            <a:solidFill>
              <a:srgbClr val="2089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1" y="2569464"/>
            <a:ext cx="3145536" cy="365760"/>
          </a:xfrm>
          <a:prstGeom prst="rect">
            <a:avLst/>
          </a:prstGeom>
          <a:noFill/>
        </p:spPr>
        <p:txBody>
          <a:bodyPr wrap="square" anchor="ctr">
            <a:spAutoFit/>
          </a:bodyPr>
          <a:lstStyle/>
          <a:p>
            <a:pPr algn="l">
              <a:defRPr sz="1400" b="1">
                <a:solidFill>
                  <a:srgbClr val="208984"/>
                </a:solidFill>
                <a:latin typeface="Aptos"/>
              </a:defRPr>
            </a:pPr>
            <a:r>
              <a:t>House-price prediction</a:t>
            </a:r>
          </a:p>
        </p:txBody>
      </p:sp>
      <p:sp>
        <p:nvSpPr>
          <p:cNvPr id="19" name="TextBox 18"/>
          <p:cNvSpPr txBox="1"/>
          <p:nvPr/>
        </p:nvSpPr>
        <p:spPr>
          <a:xfrm>
            <a:off x="804671" y="3008376"/>
            <a:ext cx="3145536" cy="-54864"/>
          </a:xfrm>
          <a:prstGeom prst="rect">
            <a:avLst/>
          </a:prstGeom>
          <a:noFill/>
        </p:spPr>
        <p:txBody>
          <a:bodyPr wrap="square" anchor="ctr">
            <a:spAutoFit/>
          </a:bodyPr>
          <a:lstStyle/>
          <a:p>
            <a:pPr algn="l">
              <a:defRPr sz="1000" b="0">
                <a:solidFill>
                  <a:srgbClr val="282C34"/>
                </a:solidFill>
                <a:latin typeface="Aptos"/>
              </a:defRPr>
            </a:pPr>
          </a:p>
        </p:txBody>
      </p:sp>
      <p:sp>
        <p:nvSpPr>
          <p:cNvPr id="20" name="Rounded Rectangle 19"/>
          <p:cNvSpPr/>
          <p:nvPr/>
        </p:nvSpPr>
        <p:spPr>
          <a:xfrm>
            <a:off x="4315968" y="2441448"/>
            <a:ext cx="2971800" cy="658368"/>
          </a:xfrm>
          <a:prstGeom prst="roundRect">
            <a:avLst/>
          </a:prstGeom>
          <a:solidFill>
            <a:srgbClr val="FBEFE1"/>
          </a:solidFill>
          <a:ln w="15240">
            <a:solidFill>
              <a:srgbClr val="E28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80559" y="2569464"/>
            <a:ext cx="2642616" cy="365760"/>
          </a:xfrm>
          <a:prstGeom prst="rect">
            <a:avLst/>
          </a:prstGeom>
          <a:noFill/>
        </p:spPr>
        <p:txBody>
          <a:bodyPr wrap="square" anchor="ctr">
            <a:spAutoFit/>
          </a:bodyPr>
          <a:lstStyle/>
          <a:p>
            <a:pPr algn="l">
              <a:defRPr sz="1300" b="1">
                <a:solidFill>
                  <a:srgbClr val="E28431"/>
                </a:solidFill>
                <a:latin typeface="Aptos"/>
              </a:defRPr>
            </a:pPr>
            <a:r>
              <a:t>Regression</a:t>
            </a:r>
          </a:p>
        </p:txBody>
      </p:sp>
      <p:sp>
        <p:nvSpPr>
          <p:cNvPr id="22" name="TextBox 21"/>
          <p:cNvSpPr txBox="1"/>
          <p:nvPr/>
        </p:nvSpPr>
        <p:spPr>
          <a:xfrm>
            <a:off x="4480559" y="3008376"/>
            <a:ext cx="2642616" cy="-54864"/>
          </a:xfrm>
          <a:prstGeom prst="rect">
            <a:avLst/>
          </a:prstGeom>
          <a:noFill/>
        </p:spPr>
        <p:txBody>
          <a:bodyPr wrap="square" anchor="ctr">
            <a:spAutoFit/>
          </a:bodyPr>
          <a:lstStyle/>
          <a:p>
            <a:pPr algn="l">
              <a:defRPr sz="1000" b="0">
                <a:solidFill>
                  <a:srgbClr val="282C34"/>
                </a:solidFill>
                <a:latin typeface="Aptos"/>
              </a:defRPr>
            </a:pPr>
          </a:p>
        </p:txBody>
      </p:sp>
      <p:sp>
        <p:nvSpPr>
          <p:cNvPr id="23" name="Rounded Rectangle 22"/>
          <p:cNvSpPr/>
          <p:nvPr/>
        </p:nvSpPr>
        <p:spPr>
          <a:xfrm>
            <a:off x="7498079" y="2441448"/>
            <a:ext cx="4023360" cy="658368"/>
          </a:xfrm>
          <a:prstGeom prst="roundRect">
            <a:avLst/>
          </a:prstGeom>
          <a:solidFill>
            <a:srgbClr val="F0EBF8"/>
          </a:solidFill>
          <a:ln w="15240">
            <a:solidFill>
              <a:srgbClr val="715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62671" y="2569464"/>
            <a:ext cx="3694176" cy="365760"/>
          </a:xfrm>
          <a:prstGeom prst="rect">
            <a:avLst/>
          </a:prstGeom>
          <a:noFill/>
        </p:spPr>
        <p:txBody>
          <a:bodyPr wrap="square" anchor="ctr">
            <a:spAutoFit/>
          </a:bodyPr>
          <a:lstStyle/>
          <a:p>
            <a:pPr algn="l">
              <a:defRPr sz="1300" b="1">
                <a:solidFill>
                  <a:srgbClr val="7153A8"/>
                </a:solidFill>
                <a:latin typeface="Aptos"/>
              </a:defRPr>
            </a:pPr>
            <a:r>
              <a:t>Predict a number</a:t>
            </a:r>
          </a:p>
        </p:txBody>
      </p:sp>
      <p:sp>
        <p:nvSpPr>
          <p:cNvPr id="25" name="TextBox 24"/>
          <p:cNvSpPr txBox="1"/>
          <p:nvPr/>
        </p:nvSpPr>
        <p:spPr>
          <a:xfrm>
            <a:off x="7662671" y="3008376"/>
            <a:ext cx="3694176" cy="-54864"/>
          </a:xfrm>
          <a:prstGeom prst="rect">
            <a:avLst/>
          </a:prstGeom>
          <a:noFill/>
        </p:spPr>
        <p:txBody>
          <a:bodyPr wrap="square" anchor="ctr">
            <a:spAutoFit/>
          </a:bodyPr>
          <a:lstStyle/>
          <a:p>
            <a:pPr algn="l">
              <a:defRPr sz="1000" b="0">
                <a:solidFill>
                  <a:srgbClr val="282C34"/>
                </a:solidFill>
                <a:latin typeface="Aptos"/>
              </a:defRPr>
            </a:pPr>
          </a:p>
        </p:txBody>
      </p:sp>
      <p:sp>
        <p:nvSpPr>
          <p:cNvPr id="26" name="Rounded Rectangle 25"/>
          <p:cNvSpPr/>
          <p:nvPr/>
        </p:nvSpPr>
        <p:spPr>
          <a:xfrm>
            <a:off x="640080" y="3191256"/>
            <a:ext cx="3474720" cy="658368"/>
          </a:xfrm>
          <a:prstGeom prst="roundRect">
            <a:avLst/>
          </a:prstGeom>
          <a:solidFill>
            <a:srgbClr val="FFFFFF"/>
          </a:solidFill>
          <a:ln w="1524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1" y="3319272"/>
            <a:ext cx="3145536" cy="365760"/>
          </a:xfrm>
          <a:prstGeom prst="rect">
            <a:avLst/>
          </a:prstGeom>
          <a:noFill/>
        </p:spPr>
        <p:txBody>
          <a:bodyPr wrap="square" anchor="ctr">
            <a:spAutoFit/>
          </a:bodyPr>
          <a:lstStyle/>
          <a:p>
            <a:pPr algn="l">
              <a:defRPr sz="1400" b="1">
                <a:solidFill>
                  <a:srgbClr val="2B6CB0"/>
                </a:solidFill>
                <a:latin typeface="Aptos"/>
              </a:defRPr>
            </a:pPr>
            <a:r>
              <a:t>Customer segmentation</a:t>
            </a:r>
          </a:p>
        </p:txBody>
      </p:sp>
      <p:sp>
        <p:nvSpPr>
          <p:cNvPr id="28" name="TextBox 27"/>
          <p:cNvSpPr txBox="1"/>
          <p:nvPr/>
        </p:nvSpPr>
        <p:spPr>
          <a:xfrm>
            <a:off x="804671" y="3758183"/>
            <a:ext cx="3145536" cy="-54864"/>
          </a:xfrm>
          <a:prstGeom prst="rect">
            <a:avLst/>
          </a:prstGeom>
          <a:noFill/>
        </p:spPr>
        <p:txBody>
          <a:bodyPr wrap="square" anchor="ctr">
            <a:spAutoFit/>
          </a:bodyPr>
          <a:lstStyle/>
          <a:p>
            <a:pPr algn="l">
              <a:defRPr sz="1000" b="0">
                <a:solidFill>
                  <a:srgbClr val="282C34"/>
                </a:solidFill>
                <a:latin typeface="Aptos"/>
              </a:defRPr>
            </a:pPr>
          </a:p>
        </p:txBody>
      </p:sp>
      <p:sp>
        <p:nvSpPr>
          <p:cNvPr id="29" name="Rounded Rectangle 28"/>
          <p:cNvSpPr/>
          <p:nvPr/>
        </p:nvSpPr>
        <p:spPr>
          <a:xfrm>
            <a:off x="4315968" y="3191256"/>
            <a:ext cx="2971800" cy="658368"/>
          </a:xfrm>
          <a:prstGeom prst="roundRect">
            <a:avLst/>
          </a:prstGeom>
          <a:solidFill>
            <a:srgbClr val="FBEFE1"/>
          </a:solidFill>
          <a:ln w="15240">
            <a:solidFill>
              <a:srgbClr val="E28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80559" y="3319272"/>
            <a:ext cx="2642616" cy="365760"/>
          </a:xfrm>
          <a:prstGeom prst="rect">
            <a:avLst/>
          </a:prstGeom>
          <a:noFill/>
        </p:spPr>
        <p:txBody>
          <a:bodyPr wrap="square" anchor="ctr">
            <a:spAutoFit/>
          </a:bodyPr>
          <a:lstStyle/>
          <a:p>
            <a:pPr algn="l">
              <a:defRPr sz="1300" b="1">
                <a:solidFill>
                  <a:srgbClr val="E28431"/>
                </a:solidFill>
                <a:latin typeface="Aptos"/>
              </a:defRPr>
            </a:pPr>
            <a:r>
              <a:t>Unsupervised learning</a:t>
            </a:r>
          </a:p>
        </p:txBody>
      </p:sp>
      <p:sp>
        <p:nvSpPr>
          <p:cNvPr id="31" name="TextBox 30"/>
          <p:cNvSpPr txBox="1"/>
          <p:nvPr/>
        </p:nvSpPr>
        <p:spPr>
          <a:xfrm>
            <a:off x="4480559" y="3758183"/>
            <a:ext cx="2642616" cy="-54864"/>
          </a:xfrm>
          <a:prstGeom prst="rect">
            <a:avLst/>
          </a:prstGeom>
          <a:noFill/>
        </p:spPr>
        <p:txBody>
          <a:bodyPr wrap="square" anchor="ctr">
            <a:spAutoFit/>
          </a:bodyPr>
          <a:lstStyle/>
          <a:p>
            <a:pPr algn="l">
              <a:defRPr sz="1000" b="0">
                <a:solidFill>
                  <a:srgbClr val="282C34"/>
                </a:solidFill>
                <a:latin typeface="Aptos"/>
              </a:defRPr>
            </a:pPr>
          </a:p>
        </p:txBody>
      </p:sp>
      <p:sp>
        <p:nvSpPr>
          <p:cNvPr id="32" name="Rounded Rectangle 31"/>
          <p:cNvSpPr/>
          <p:nvPr/>
        </p:nvSpPr>
        <p:spPr>
          <a:xfrm>
            <a:off x="7498079" y="3191256"/>
            <a:ext cx="4023360" cy="658368"/>
          </a:xfrm>
          <a:prstGeom prst="roundRect">
            <a:avLst/>
          </a:prstGeom>
          <a:solidFill>
            <a:srgbClr val="F0EBF8"/>
          </a:solidFill>
          <a:ln w="15240">
            <a:solidFill>
              <a:srgbClr val="715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62671" y="3319272"/>
            <a:ext cx="3694176" cy="365760"/>
          </a:xfrm>
          <a:prstGeom prst="rect">
            <a:avLst/>
          </a:prstGeom>
          <a:noFill/>
        </p:spPr>
        <p:txBody>
          <a:bodyPr wrap="square" anchor="ctr">
            <a:spAutoFit/>
          </a:bodyPr>
          <a:lstStyle/>
          <a:p>
            <a:pPr algn="l">
              <a:defRPr sz="1300" b="1">
                <a:solidFill>
                  <a:srgbClr val="7153A8"/>
                </a:solidFill>
                <a:latin typeface="Aptos"/>
              </a:defRPr>
            </a:pPr>
            <a:r>
              <a:t>Find groups</a:t>
            </a:r>
          </a:p>
        </p:txBody>
      </p:sp>
      <p:sp>
        <p:nvSpPr>
          <p:cNvPr id="34" name="TextBox 33"/>
          <p:cNvSpPr txBox="1"/>
          <p:nvPr/>
        </p:nvSpPr>
        <p:spPr>
          <a:xfrm>
            <a:off x="7662671" y="3758183"/>
            <a:ext cx="3694176" cy="-54864"/>
          </a:xfrm>
          <a:prstGeom prst="rect">
            <a:avLst/>
          </a:prstGeom>
          <a:noFill/>
        </p:spPr>
        <p:txBody>
          <a:bodyPr wrap="square" anchor="ctr">
            <a:spAutoFit/>
          </a:bodyPr>
          <a:lstStyle/>
          <a:p>
            <a:pPr algn="l">
              <a:defRPr sz="1000" b="0">
                <a:solidFill>
                  <a:srgbClr val="282C34"/>
                </a:solidFill>
                <a:latin typeface="Aptos"/>
              </a:defRPr>
            </a:pPr>
          </a:p>
        </p:txBody>
      </p:sp>
      <p:sp>
        <p:nvSpPr>
          <p:cNvPr id="35" name="Rounded Rectangle 34"/>
          <p:cNvSpPr/>
          <p:nvPr/>
        </p:nvSpPr>
        <p:spPr>
          <a:xfrm>
            <a:off x="640080" y="3941063"/>
            <a:ext cx="3474720" cy="658368"/>
          </a:xfrm>
          <a:prstGeom prst="roundRect">
            <a:avLst/>
          </a:prstGeom>
          <a:solidFill>
            <a:srgbClr val="FFFFFF"/>
          </a:solidFill>
          <a:ln w="15240">
            <a:solidFill>
              <a:srgbClr val="2089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1" y="4069079"/>
            <a:ext cx="3145536" cy="365760"/>
          </a:xfrm>
          <a:prstGeom prst="rect">
            <a:avLst/>
          </a:prstGeom>
          <a:noFill/>
        </p:spPr>
        <p:txBody>
          <a:bodyPr wrap="square" anchor="ctr">
            <a:spAutoFit/>
          </a:bodyPr>
          <a:lstStyle/>
          <a:p>
            <a:pPr algn="l">
              <a:defRPr sz="1400" b="1">
                <a:solidFill>
                  <a:srgbClr val="208984"/>
                </a:solidFill>
                <a:latin typeface="Aptos"/>
              </a:defRPr>
            </a:pPr>
            <a:r>
              <a:t>Fraud detection</a:t>
            </a:r>
          </a:p>
        </p:txBody>
      </p:sp>
      <p:sp>
        <p:nvSpPr>
          <p:cNvPr id="37" name="TextBox 36"/>
          <p:cNvSpPr txBox="1"/>
          <p:nvPr/>
        </p:nvSpPr>
        <p:spPr>
          <a:xfrm>
            <a:off x="804671" y="4507992"/>
            <a:ext cx="3145536" cy="-54864"/>
          </a:xfrm>
          <a:prstGeom prst="rect">
            <a:avLst/>
          </a:prstGeom>
          <a:noFill/>
        </p:spPr>
        <p:txBody>
          <a:bodyPr wrap="square" anchor="ctr">
            <a:spAutoFit/>
          </a:bodyPr>
          <a:lstStyle/>
          <a:p>
            <a:pPr algn="l">
              <a:defRPr sz="1000" b="0">
                <a:solidFill>
                  <a:srgbClr val="282C34"/>
                </a:solidFill>
                <a:latin typeface="Aptos"/>
              </a:defRPr>
            </a:pPr>
          </a:p>
        </p:txBody>
      </p:sp>
      <p:sp>
        <p:nvSpPr>
          <p:cNvPr id="38" name="Rounded Rectangle 37"/>
          <p:cNvSpPr/>
          <p:nvPr/>
        </p:nvSpPr>
        <p:spPr>
          <a:xfrm>
            <a:off x="4315968" y="3941063"/>
            <a:ext cx="2971800" cy="658368"/>
          </a:xfrm>
          <a:prstGeom prst="roundRect">
            <a:avLst/>
          </a:prstGeom>
          <a:solidFill>
            <a:srgbClr val="FBEFE1"/>
          </a:solidFill>
          <a:ln w="15240">
            <a:solidFill>
              <a:srgbClr val="E28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480559" y="4069079"/>
            <a:ext cx="2642616" cy="365760"/>
          </a:xfrm>
          <a:prstGeom prst="rect">
            <a:avLst/>
          </a:prstGeom>
          <a:noFill/>
        </p:spPr>
        <p:txBody>
          <a:bodyPr wrap="square" anchor="ctr">
            <a:spAutoFit/>
          </a:bodyPr>
          <a:lstStyle/>
          <a:p>
            <a:pPr algn="l">
              <a:defRPr sz="1300" b="1">
                <a:solidFill>
                  <a:srgbClr val="E28431"/>
                </a:solidFill>
                <a:latin typeface="Aptos"/>
              </a:defRPr>
            </a:pPr>
            <a:r>
              <a:t>Classification / anomaly detection</a:t>
            </a:r>
          </a:p>
        </p:txBody>
      </p:sp>
      <p:sp>
        <p:nvSpPr>
          <p:cNvPr id="40" name="TextBox 39"/>
          <p:cNvSpPr txBox="1"/>
          <p:nvPr/>
        </p:nvSpPr>
        <p:spPr>
          <a:xfrm>
            <a:off x="4480559" y="4507992"/>
            <a:ext cx="2642616" cy="-54864"/>
          </a:xfrm>
          <a:prstGeom prst="rect">
            <a:avLst/>
          </a:prstGeom>
          <a:noFill/>
        </p:spPr>
        <p:txBody>
          <a:bodyPr wrap="square" anchor="ctr">
            <a:spAutoFit/>
          </a:bodyPr>
          <a:lstStyle/>
          <a:p>
            <a:pPr algn="l">
              <a:defRPr sz="1000" b="0">
                <a:solidFill>
                  <a:srgbClr val="282C34"/>
                </a:solidFill>
                <a:latin typeface="Aptos"/>
              </a:defRPr>
            </a:pPr>
          </a:p>
        </p:txBody>
      </p:sp>
      <p:sp>
        <p:nvSpPr>
          <p:cNvPr id="41" name="Rounded Rectangle 40"/>
          <p:cNvSpPr/>
          <p:nvPr/>
        </p:nvSpPr>
        <p:spPr>
          <a:xfrm>
            <a:off x="7498079" y="3941063"/>
            <a:ext cx="4023360" cy="658368"/>
          </a:xfrm>
          <a:prstGeom prst="roundRect">
            <a:avLst/>
          </a:prstGeom>
          <a:solidFill>
            <a:srgbClr val="F0EBF8"/>
          </a:solidFill>
          <a:ln w="15240">
            <a:solidFill>
              <a:srgbClr val="715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62671" y="4069079"/>
            <a:ext cx="3694176" cy="365760"/>
          </a:xfrm>
          <a:prstGeom prst="rect">
            <a:avLst/>
          </a:prstGeom>
          <a:noFill/>
        </p:spPr>
        <p:txBody>
          <a:bodyPr wrap="square" anchor="ctr">
            <a:spAutoFit/>
          </a:bodyPr>
          <a:lstStyle/>
          <a:p>
            <a:pPr algn="l">
              <a:defRPr sz="1300" b="1">
                <a:solidFill>
                  <a:srgbClr val="7153A8"/>
                </a:solidFill>
                <a:latin typeface="Aptos"/>
              </a:defRPr>
            </a:pPr>
            <a:r>
              <a:t>Identify suspicious cases</a:t>
            </a:r>
          </a:p>
        </p:txBody>
      </p:sp>
      <p:sp>
        <p:nvSpPr>
          <p:cNvPr id="43" name="TextBox 42"/>
          <p:cNvSpPr txBox="1"/>
          <p:nvPr/>
        </p:nvSpPr>
        <p:spPr>
          <a:xfrm>
            <a:off x="7662671" y="4507992"/>
            <a:ext cx="3694176" cy="-54864"/>
          </a:xfrm>
          <a:prstGeom prst="rect">
            <a:avLst/>
          </a:prstGeom>
          <a:noFill/>
        </p:spPr>
        <p:txBody>
          <a:bodyPr wrap="square" anchor="ctr">
            <a:spAutoFit/>
          </a:bodyPr>
          <a:lstStyle/>
          <a:p>
            <a:pPr algn="l">
              <a:defRPr sz="1000" b="0">
                <a:solidFill>
                  <a:srgbClr val="282C34"/>
                </a:solidFill>
                <a:latin typeface="Aptos"/>
              </a:defRPr>
            </a:pPr>
          </a:p>
        </p:txBody>
      </p:sp>
      <p:sp>
        <p:nvSpPr>
          <p:cNvPr id="44" name="Rounded Rectangle 43"/>
          <p:cNvSpPr/>
          <p:nvPr/>
        </p:nvSpPr>
        <p:spPr>
          <a:xfrm>
            <a:off x="640080" y="4690872"/>
            <a:ext cx="3474720" cy="658368"/>
          </a:xfrm>
          <a:prstGeom prst="roundRect">
            <a:avLst/>
          </a:prstGeom>
          <a:solidFill>
            <a:srgbClr val="FFFFFF"/>
          </a:solidFill>
          <a:ln w="1524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4671" y="4818888"/>
            <a:ext cx="3145536" cy="365760"/>
          </a:xfrm>
          <a:prstGeom prst="rect">
            <a:avLst/>
          </a:prstGeom>
          <a:noFill/>
        </p:spPr>
        <p:txBody>
          <a:bodyPr wrap="square" anchor="ctr">
            <a:spAutoFit/>
          </a:bodyPr>
          <a:lstStyle/>
          <a:p>
            <a:pPr algn="l">
              <a:defRPr sz="1400" b="1">
                <a:solidFill>
                  <a:srgbClr val="2B6CB0"/>
                </a:solidFill>
                <a:latin typeface="Aptos"/>
              </a:defRPr>
            </a:pPr>
            <a:r>
              <a:t>Sales forecasting</a:t>
            </a:r>
          </a:p>
        </p:txBody>
      </p:sp>
      <p:sp>
        <p:nvSpPr>
          <p:cNvPr id="46" name="TextBox 45"/>
          <p:cNvSpPr txBox="1"/>
          <p:nvPr/>
        </p:nvSpPr>
        <p:spPr>
          <a:xfrm>
            <a:off x="804671" y="5257800"/>
            <a:ext cx="3145536" cy="-54864"/>
          </a:xfrm>
          <a:prstGeom prst="rect">
            <a:avLst/>
          </a:prstGeom>
          <a:noFill/>
        </p:spPr>
        <p:txBody>
          <a:bodyPr wrap="square" anchor="ctr">
            <a:spAutoFit/>
          </a:bodyPr>
          <a:lstStyle/>
          <a:p>
            <a:pPr algn="l">
              <a:defRPr sz="1000" b="0">
                <a:solidFill>
                  <a:srgbClr val="282C34"/>
                </a:solidFill>
                <a:latin typeface="Aptos"/>
              </a:defRPr>
            </a:pPr>
          </a:p>
        </p:txBody>
      </p:sp>
      <p:sp>
        <p:nvSpPr>
          <p:cNvPr id="47" name="Rounded Rectangle 46"/>
          <p:cNvSpPr/>
          <p:nvPr/>
        </p:nvSpPr>
        <p:spPr>
          <a:xfrm>
            <a:off x="4315968" y="4690872"/>
            <a:ext cx="2971800" cy="658368"/>
          </a:xfrm>
          <a:prstGeom prst="roundRect">
            <a:avLst/>
          </a:prstGeom>
          <a:solidFill>
            <a:srgbClr val="FBEFE1"/>
          </a:solidFill>
          <a:ln w="15240">
            <a:solidFill>
              <a:srgbClr val="E28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480559" y="4818888"/>
            <a:ext cx="2642616" cy="365760"/>
          </a:xfrm>
          <a:prstGeom prst="rect">
            <a:avLst/>
          </a:prstGeom>
          <a:noFill/>
        </p:spPr>
        <p:txBody>
          <a:bodyPr wrap="square" anchor="ctr">
            <a:spAutoFit/>
          </a:bodyPr>
          <a:lstStyle/>
          <a:p>
            <a:pPr algn="l">
              <a:defRPr sz="1300" b="1">
                <a:solidFill>
                  <a:srgbClr val="E28431"/>
                </a:solidFill>
                <a:latin typeface="Aptos"/>
              </a:defRPr>
            </a:pPr>
            <a:r>
              <a:t>Regression / time series</a:t>
            </a:r>
          </a:p>
        </p:txBody>
      </p:sp>
      <p:sp>
        <p:nvSpPr>
          <p:cNvPr id="49" name="TextBox 48"/>
          <p:cNvSpPr txBox="1"/>
          <p:nvPr/>
        </p:nvSpPr>
        <p:spPr>
          <a:xfrm>
            <a:off x="4480559" y="5257800"/>
            <a:ext cx="2642616" cy="-54864"/>
          </a:xfrm>
          <a:prstGeom prst="rect">
            <a:avLst/>
          </a:prstGeom>
          <a:noFill/>
        </p:spPr>
        <p:txBody>
          <a:bodyPr wrap="square" anchor="ctr">
            <a:spAutoFit/>
          </a:bodyPr>
          <a:lstStyle/>
          <a:p>
            <a:pPr algn="l">
              <a:defRPr sz="1000" b="0">
                <a:solidFill>
                  <a:srgbClr val="282C34"/>
                </a:solidFill>
                <a:latin typeface="Aptos"/>
              </a:defRPr>
            </a:pPr>
          </a:p>
        </p:txBody>
      </p:sp>
      <p:sp>
        <p:nvSpPr>
          <p:cNvPr id="50" name="Rounded Rectangle 49"/>
          <p:cNvSpPr/>
          <p:nvPr/>
        </p:nvSpPr>
        <p:spPr>
          <a:xfrm>
            <a:off x="7498079" y="4690872"/>
            <a:ext cx="4023360" cy="658368"/>
          </a:xfrm>
          <a:prstGeom prst="roundRect">
            <a:avLst/>
          </a:prstGeom>
          <a:solidFill>
            <a:srgbClr val="F0EBF8"/>
          </a:solidFill>
          <a:ln w="15240">
            <a:solidFill>
              <a:srgbClr val="715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662671" y="4818888"/>
            <a:ext cx="3694176" cy="365760"/>
          </a:xfrm>
          <a:prstGeom prst="rect">
            <a:avLst/>
          </a:prstGeom>
          <a:noFill/>
        </p:spPr>
        <p:txBody>
          <a:bodyPr wrap="square" anchor="ctr">
            <a:spAutoFit/>
          </a:bodyPr>
          <a:lstStyle/>
          <a:p>
            <a:pPr algn="l">
              <a:defRPr sz="1300" b="1">
                <a:solidFill>
                  <a:srgbClr val="7153A8"/>
                </a:solidFill>
                <a:latin typeface="Aptos"/>
              </a:defRPr>
            </a:pPr>
            <a:r>
              <a:t>Predict a future value</a:t>
            </a:r>
          </a:p>
        </p:txBody>
      </p:sp>
      <p:sp>
        <p:nvSpPr>
          <p:cNvPr id="52" name="TextBox 51"/>
          <p:cNvSpPr txBox="1"/>
          <p:nvPr/>
        </p:nvSpPr>
        <p:spPr>
          <a:xfrm>
            <a:off x="7662671" y="5257800"/>
            <a:ext cx="3694176" cy="-54864"/>
          </a:xfrm>
          <a:prstGeom prst="rect">
            <a:avLst/>
          </a:prstGeom>
          <a:noFill/>
        </p:spPr>
        <p:txBody>
          <a:bodyPr wrap="square" anchor="ctr">
            <a:spAutoFit/>
          </a:bodyPr>
          <a:lstStyle/>
          <a:p>
            <a:pPr algn="l">
              <a:defRPr sz="1000" b="0">
                <a:solidFill>
                  <a:srgbClr val="282C34"/>
                </a:solidFill>
                <a:latin typeface="Aptos"/>
              </a:defRPr>
            </a:pPr>
          </a:p>
        </p:txBody>
      </p:sp>
      <p:sp>
        <p:nvSpPr>
          <p:cNvPr id="53" name="Rounded Rectangle 52"/>
          <p:cNvSpPr/>
          <p:nvPr/>
        </p:nvSpPr>
        <p:spPr>
          <a:xfrm>
            <a:off x="640080" y="5440680"/>
            <a:ext cx="3474720" cy="658368"/>
          </a:xfrm>
          <a:prstGeom prst="roundRect">
            <a:avLst/>
          </a:prstGeom>
          <a:solidFill>
            <a:srgbClr val="FFFFFF"/>
          </a:solidFill>
          <a:ln w="15240">
            <a:solidFill>
              <a:srgbClr val="2089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04671" y="5568696"/>
            <a:ext cx="3145536" cy="365760"/>
          </a:xfrm>
          <a:prstGeom prst="rect">
            <a:avLst/>
          </a:prstGeom>
          <a:noFill/>
        </p:spPr>
        <p:txBody>
          <a:bodyPr wrap="square" anchor="ctr">
            <a:spAutoFit/>
          </a:bodyPr>
          <a:lstStyle/>
          <a:p>
            <a:pPr algn="l">
              <a:defRPr sz="1400" b="1">
                <a:solidFill>
                  <a:srgbClr val="208984"/>
                </a:solidFill>
                <a:latin typeface="Aptos"/>
              </a:defRPr>
            </a:pPr>
            <a:r>
              <a:t>Content recommendation</a:t>
            </a:r>
          </a:p>
        </p:txBody>
      </p:sp>
      <p:sp>
        <p:nvSpPr>
          <p:cNvPr id="55" name="TextBox 54"/>
          <p:cNvSpPr txBox="1"/>
          <p:nvPr/>
        </p:nvSpPr>
        <p:spPr>
          <a:xfrm>
            <a:off x="804671" y="6007608"/>
            <a:ext cx="3145536" cy="-54864"/>
          </a:xfrm>
          <a:prstGeom prst="rect">
            <a:avLst/>
          </a:prstGeom>
          <a:noFill/>
        </p:spPr>
        <p:txBody>
          <a:bodyPr wrap="square" anchor="ctr">
            <a:spAutoFit/>
          </a:bodyPr>
          <a:lstStyle/>
          <a:p>
            <a:pPr algn="l">
              <a:defRPr sz="1000" b="0">
                <a:solidFill>
                  <a:srgbClr val="282C34"/>
                </a:solidFill>
                <a:latin typeface="Aptos"/>
              </a:defRPr>
            </a:pPr>
          </a:p>
        </p:txBody>
      </p:sp>
      <p:sp>
        <p:nvSpPr>
          <p:cNvPr id="56" name="Rounded Rectangle 55"/>
          <p:cNvSpPr/>
          <p:nvPr/>
        </p:nvSpPr>
        <p:spPr>
          <a:xfrm>
            <a:off x="4315968" y="5440680"/>
            <a:ext cx="2971800" cy="658368"/>
          </a:xfrm>
          <a:prstGeom prst="roundRect">
            <a:avLst/>
          </a:prstGeom>
          <a:solidFill>
            <a:srgbClr val="FBEFE1"/>
          </a:solidFill>
          <a:ln w="15240">
            <a:solidFill>
              <a:srgbClr val="E28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480559" y="5568696"/>
            <a:ext cx="2642616" cy="365760"/>
          </a:xfrm>
          <a:prstGeom prst="rect">
            <a:avLst/>
          </a:prstGeom>
          <a:noFill/>
        </p:spPr>
        <p:txBody>
          <a:bodyPr wrap="square" anchor="ctr">
            <a:spAutoFit/>
          </a:bodyPr>
          <a:lstStyle/>
          <a:p>
            <a:pPr algn="l">
              <a:defRPr sz="1300" b="1">
                <a:solidFill>
                  <a:srgbClr val="E28431"/>
                </a:solidFill>
                <a:latin typeface="Aptos"/>
              </a:defRPr>
            </a:pPr>
            <a:r>
              <a:t>Recommendation / ranking</a:t>
            </a:r>
          </a:p>
        </p:txBody>
      </p:sp>
      <p:sp>
        <p:nvSpPr>
          <p:cNvPr id="58" name="TextBox 57"/>
          <p:cNvSpPr txBox="1"/>
          <p:nvPr/>
        </p:nvSpPr>
        <p:spPr>
          <a:xfrm>
            <a:off x="4480559" y="6007608"/>
            <a:ext cx="2642616" cy="-54864"/>
          </a:xfrm>
          <a:prstGeom prst="rect">
            <a:avLst/>
          </a:prstGeom>
          <a:noFill/>
        </p:spPr>
        <p:txBody>
          <a:bodyPr wrap="square" anchor="ctr">
            <a:spAutoFit/>
          </a:bodyPr>
          <a:lstStyle/>
          <a:p>
            <a:pPr algn="l">
              <a:defRPr sz="1000" b="0">
                <a:solidFill>
                  <a:srgbClr val="282C34"/>
                </a:solidFill>
                <a:latin typeface="Aptos"/>
              </a:defRPr>
            </a:pPr>
          </a:p>
        </p:txBody>
      </p:sp>
      <p:sp>
        <p:nvSpPr>
          <p:cNvPr id="59" name="Rounded Rectangle 58"/>
          <p:cNvSpPr/>
          <p:nvPr/>
        </p:nvSpPr>
        <p:spPr>
          <a:xfrm>
            <a:off x="7498079" y="5440680"/>
            <a:ext cx="4023360" cy="658368"/>
          </a:xfrm>
          <a:prstGeom prst="roundRect">
            <a:avLst/>
          </a:prstGeom>
          <a:solidFill>
            <a:srgbClr val="F0EBF8"/>
          </a:solidFill>
          <a:ln w="15240">
            <a:solidFill>
              <a:srgbClr val="715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662671" y="5568696"/>
            <a:ext cx="3694176" cy="365760"/>
          </a:xfrm>
          <a:prstGeom prst="rect">
            <a:avLst/>
          </a:prstGeom>
          <a:noFill/>
        </p:spPr>
        <p:txBody>
          <a:bodyPr wrap="square" anchor="ctr">
            <a:spAutoFit/>
          </a:bodyPr>
          <a:lstStyle/>
          <a:p>
            <a:pPr algn="l">
              <a:defRPr sz="1300" b="1">
                <a:solidFill>
                  <a:srgbClr val="7153A8"/>
                </a:solidFill>
                <a:latin typeface="Aptos"/>
              </a:defRPr>
            </a:pPr>
            <a:r>
              <a:t>Rank likely useful items</a:t>
            </a:r>
          </a:p>
        </p:txBody>
      </p:sp>
      <p:sp>
        <p:nvSpPr>
          <p:cNvPr id="61" name="TextBox 60"/>
          <p:cNvSpPr txBox="1"/>
          <p:nvPr/>
        </p:nvSpPr>
        <p:spPr>
          <a:xfrm>
            <a:off x="7662671" y="6007608"/>
            <a:ext cx="3694176" cy="-54864"/>
          </a:xfrm>
          <a:prstGeom prst="rect">
            <a:avLst/>
          </a:prstGeom>
          <a:noFill/>
        </p:spPr>
        <p:txBody>
          <a:bodyPr wrap="square" anchor="ctr">
            <a:spAutoFit/>
          </a:bodyPr>
          <a:lstStyle/>
          <a:p>
            <a:pPr algn="l">
              <a:defRPr sz="1000" b="0">
                <a:solidFill>
                  <a:srgbClr val="282C34"/>
                </a:solidFill>
                <a:latin typeface="Aptos"/>
              </a:defRPr>
            </a:pPr>
          </a:p>
        </p:txBody>
      </p:sp>
      <p:sp>
        <p:nvSpPr>
          <p:cNvPr id="62" name="TextBox 61"/>
          <p:cNvSpPr txBox="1"/>
          <p:nvPr/>
        </p:nvSpPr>
        <p:spPr>
          <a:xfrm>
            <a:off x="731520" y="6172200"/>
            <a:ext cx="10698480" cy="274320"/>
          </a:xfrm>
          <a:prstGeom prst="rect">
            <a:avLst/>
          </a:prstGeom>
          <a:noFill/>
        </p:spPr>
        <p:txBody>
          <a:bodyPr wrap="square" anchor="ctr">
            <a:spAutoFit/>
          </a:bodyPr>
          <a:lstStyle/>
          <a:p>
            <a:pPr algn="ctr">
              <a:defRPr sz="1100" b="1">
                <a:solidFill>
                  <a:srgbClr val="69707C"/>
                </a:solidFill>
                <a:latin typeface="Aptos"/>
              </a:defRPr>
            </a:pPr>
            <a:r>
              <a:t>Instructor prompt: What is X? What is y? What would the model learn?</a:t>
            </a:r>
          </a:p>
        </p:txBody>
      </p:sp>
      <p:sp>
        <p:nvSpPr>
          <p:cNvPr id="63" name="TextBox 62"/>
          <p:cNvSpPr txBox="1"/>
          <p:nvPr/>
        </p:nvSpPr>
        <p:spPr>
          <a:xfrm>
            <a:off x="594360" y="6446520"/>
            <a:ext cx="5486400" cy="228600"/>
          </a:xfrm>
          <a:prstGeom prst="rect">
            <a:avLst/>
          </a:prstGeom>
          <a:noFill/>
        </p:spPr>
        <p:txBody>
          <a:bodyPr wrap="square" anchor="ctr">
            <a:spAutoFit/>
          </a:bodyPr>
          <a:lstStyle/>
          <a:p>
            <a:pPr algn="l">
              <a:defRPr sz="800" b="0">
                <a:solidFill>
                  <a:srgbClr val="69707C"/>
                </a:solidFill>
                <a:latin typeface="Aptos"/>
              </a:defRPr>
            </a:pPr>
            <a:r>
              <a:t>AI &amp; Machine Learning • Classroom Deck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256032"/>
            <a:ext cx="1417320" cy="384048"/>
          </a:xfrm>
          <a:prstGeom prst="roundRect">
            <a:avLst/>
          </a:prstGeom>
          <a:solidFill>
            <a:srgbClr val="7153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265176"/>
            <a:ext cx="1362456" cy="347472"/>
          </a:xfrm>
          <a:prstGeom prst="rect">
            <a:avLst/>
          </a:prstGeom>
          <a:noFill/>
        </p:spPr>
        <p:txBody>
          <a:bodyPr wrap="square" anchor="ctr">
            <a:spAutoFit/>
          </a:bodyPr>
          <a:lstStyle/>
          <a:p>
            <a:pPr algn="ctr">
              <a:defRPr sz="1000" b="1">
                <a:solidFill>
                  <a:srgbClr val="FFFFFF"/>
                </a:solidFill>
                <a:latin typeface="Aptos"/>
              </a:defRPr>
            </a:pPr>
            <a:r>
              <a:t>PROJECT</a:t>
            </a:r>
          </a:p>
        </p:txBody>
      </p:sp>
      <p:sp>
        <p:nvSpPr>
          <p:cNvPr id="5" name="TextBox 4"/>
          <p:cNvSpPr txBox="1"/>
          <p:nvPr/>
        </p:nvSpPr>
        <p:spPr>
          <a:xfrm>
            <a:off x="594360" y="749808"/>
            <a:ext cx="10972800" cy="621792"/>
          </a:xfrm>
          <a:prstGeom prst="rect">
            <a:avLst/>
          </a:prstGeom>
          <a:noFill/>
        </p:spPr>
        <p:txBody>
          <a:bodyPr wrap="square" anchor="ctr">
            <a:spAutoFit/>
          </a:bodyPr>
          <a:lstStyle/>
          <a:p>
            <a:pPr algn="l">
              <a:defRPr sz="2900" b="1">
                <a:solidFill>
                  <a:srgbClr val="1B2B4B"/>
                </a:solidFill>
                <a:latin typeface="Aptos Display"/>
              </a:defRPr>
            </a:pPr>
            <a:r>
              <a:t>Mini project: Customer Churn</a:t>
            </a:r>
          </a:p>
        </p:txBody>
      </p:sp>
      <p:sp>
        <p:nvSpPr>
          <p:cNvPr id="6" name="TextBox 5"/>
          <p:cNvSpPr txBox="1"/>
          <p:nvPr/>
        </p:nvSpPr>
        <p:spPr>
          <a:xfrm>
            <a:off x="621792" y="1353312"/>
            <a:ext cx="10789920" cy="384048"/>
          </a:xfrm>
          <a:prstGeom prst="rect">
            <a:avLst/>
          </a:prstGeom>
          <a:noFill/>
        </p:spPr>
        <p:txBody>
          <a:bodyPr wrap="square" anchor="ctr">
            <a:spAutoFit/>
          </a:bodyPr>
          <a:lstStyle/>
          <a:p>
            <a:pPr algn="l">
              <a:defRPr sz="1300" b="0">
                <a:solidFill>
                  <a:srgbClr val="69707C"/>
                </a:solidFill>
                <a:latin typeface="Aptos"/>
              </a:defRPr>
            </a:pPr>
            <a:r>
              <a:t>Connect the lesson from problem definition to model evaluation.</a:t>
            </a:r>
          </a:p>
        </p:txBody>
      </p:sp>
      <p:sp>
        <p:nvSpPr>
          <p:cNvPr id="7" name="TextBox 6"/>
          <p:cNvSpPr txBox="1"/>
          <p:nvPr/>
        </p:nvSpPr>
        <p:spPr>
          <a:xfrm>
            <a:off x="11155680" y="292608"/>
            <a:ext cx="457200" cy="274320"/>
          </a:xfrm>
          <a:prstGeom prst="rect">
            <a:avLst/>
          </a:prstGeom>
          <a:noFill/>
        </p:spPr>
        <p:txBody>
          <a:bodyPr wrap="square" anchor="ctr">
            <a:spAutoFit/>
          </a:bodyPr>
          <a:lstStyle/>
          <a:p>
            <a:pPr algn="r">
              <a:defRPr sz="900" b="1">
                <a:solidFill>
                  <a:srgbClr val="69707C"/>
                </a:solidFill>
                <a:latin typeface="Aptos"/>
              </a:defRPr>
            </a:pPr>
            <a:r>
              <a:t>18</a:t>
            </a:r>
          </a:p>
        </p:txBody>
      </p:sp>
      <p:sp>
        <p:nvSpPr>
          <p:cNvPr id="8" name="Rounded Rectangle 7"/>
          <p:cNvSpPr/>
          <p:nvPr/>
        </p:nvSpPr>
        <p:spPr>
          <a:xfrm>
            <a:off x="612648" y="1920240"/>
            <a:ext cx="2062886" cy="786384"/>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2029968"/>
            <a:ext cx="1989734" cy="566928"/>
          </a:xfrm>
          <a:prstGeom prst="rect">
            <a:avLst/>
          </a:prstGeom>
          <a:noFill/>
        </p:spPr>
        <p:txBody>
          <a:bodyPr wrap="square" anchor="ctr">
            <a:spAutoFit/>
          </a:bodyPr>
          <a:lstStyle/>
          <a:p>
            <a:pPr algn="ctr">
              <a:defRPr sz="1400" b="1">
                <a:solidFill>
                  <a:srgbClr val="FFFFFF"/>
                </a:solidFill>
                <a:latin typeface="Aptos"/>
              </a:defRPr>
            </a:pPr>
            <a:r>
              <a:t>Explore</a:t>
            </a:r>
          </a:p>
        </p:txBody>
      </p:sp>
      <p:sp>
        <p:nvSpPr>
          <p:cNvPr id="10" name="Rounded Rectangle 9"/>
          <p:cNvSpPr/>
          <p:nvPr/>
        </p:nvSpPr>
        <p:spPr>
          <a:xfrm>
            <a:off x="2840126" y="1920240"/>
            <a:ext cx="2062886" cy="786384"/>
          </a:xfrm>
          <a:prstGeom prst="roundRect">
            <a:avLst/>
          </a:prstGeom>
          <a:solidFill>
            <a:srgbClr val="2089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76702" y="2029968"/>
            <a:ext cx="1989734" cy="566928"/>
          </a:xfrm>
          <a:prstGeom prst="rect">
            <a:avLst/>
          </a:prstGeom>
          <a:noFill/>
        </p:spPr>
        <p:txBody>
          <a:bodyPr wrap="square" anchor="ctr">
            <a:spAutoFit/>
          </a:bodyPr>
          <a:lstStyle/>
          <a:p>
            <a:pPr algn="ctr">
              <a:defRPr sz="1400" b="1">
                <a:solidFill>
                  <a:srgbClr val="FFFFFF"/>
                </a:solidFill>
                <a:latin typeface="Aptos"/>
              </a:defRPr>
            </a:pPr>
            <a:r>
              <a:t>Prepare</a:t>
            </a:r>
          </a:p>
        </p:txBody>
      </p:sp>
      <p:sp>
        <p:nvSpPr>
          <p:cNvPr id="12" name="Rounded Rectangle 11"/>
          <p:cNvSpPr/>
          <p:nvPr/>
        </p:nvSpPr>
        <p:spPr>
          <a:xfrm>
            <a:off x="5067604" y="1920240"/>
            <a:ext cx="2062886" cy="786384"/>
          </a:xfrm>
          <a:prstGeom prst="roundRect">
            <a:avLst/>
          </a:prstGeom>
          <a:solidFill>
            <a:srgbClr val="E284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04180" y="2029968"/>
            <a:ext cx="1989734" cy="566928"/>
          </a:xfrm>
          <a:prstGeom prst="rect">
            <a:avLst/>
          </a:prstGeom>
          <a:noFill/>
        </p:spPr>
        <p:txBody>
          <a:bodyPr wrap="square" anchor="ctr">
            <a:spAutoFit/>
          </a:bodyPr>
          <a:lstStyle/>
          <a:p>
            <a:pPr algn="ctr">
              <a:defRPr sz="1400" b="1">
                <a:solidFill>
                  <a:srgbClr val="FFFFFF"/>
                </a:solidFill>
                <a:latin typeface="Aptos"/>
              </a:defRPr>
            </a:pPr>
            <a:r>
              <a:t>Train</a:t>
            </a:r>
          </a:p>
        </p:txBody>
      </p:sp>
      <p:sp>
        <p:nvSpPr>
          <p:cNvPr id="14" name="Rounded Rectangle 13"/>
          <p:cNvSpPr/>
          <p:nvPr/>
        </p:nvSpPr>
        <p:spPr>
          <a:xfrm>
            <a:off x="7295083" y="1920240"/>
            <a:ext cx="2062886" cy="786384"/>
          </a:xfrm>
          <a:prstGeom prst="roundRect">
            <a:avLst/>
          </a:prstGeom>
          <a:solidFill>
            <a:srgbClr val="378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31659" y="2029968"/>
            <a:ext cx="1989734" cy="566928"/>
          </a:xfrm>
          <a:prstGeom prst="rect">
            <a:avLst/>
          </a:prstGeom>
          <a:noFill/>
        </p:spPr>
        <p:txBody>
          <a:bodyPr wrap="square" anchor="ctr">
            <a:spAutoFit/>
          </a:bodyPr>
          <a:lstStyle/>
          <a:p>
            <a:pPr algn="ctr">
              <a:defRPr sz="1400" b="1">
                <a:solidFill>
                  <a:srgbClr val="FFFFFF"/>
                </a:solidFill>
                <a:latin typeface="Aptos"/>
              </a:defRPr>
            </a:pPr>
            <a:r>
              <a:t>Evaluate</a:t>
            </a:r>
          </a:p>
        </p:txBody>
      </p:sp>
      <p:sp>
        <p:nvSpPr>
          <p:cNvPr id="16" name="Rounded Rectangle 15"/>
          <p:cNvSpPr/>
          <p:nvPr/>
        </p:nvSpPr>
        <p:spPr>
          <a:xfrm>
            <a:off x="9522561" y="1920240"/>
            <a:ext cx="2062886" cy="786384"/>
          </a:xfrm>
          <a:prstGeom prst="roundRect">
            <a:avLst/>
          </a:prstGeom>
          <a:solidFill>
            <a:srgbClr val="7153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59137" y="2029968"/>
            <a:ext cx="1989734" cy="566928"/>
          </a:xfrm>
          <a:prstGeom prst="rect">
            <a:avLst/>
          </a:prstGeom>
          <a:noFill/>
        </p:spPr>
        <p:txBody>
          <a:bodyPr wrap="square" anchor="ctr">
            <a:spAutoFit/>
          </a:bodyPr>
          <a:lstStyle/>
          <a:p>
            <a:pPr algn="ctr">
              <a:defRPr sz="1400" b="1">
                <a:solidFill>
                  <a:srgbClr val="FFFFFF"/>
                </a:solidFill>
                <a:latin typeface="Aptos"/>
              </a:defRPr>
            </a:pPr>
            <a:r>
              <a:t>Explain</a:t>
            </a:r>
          </a:p>
        </p:txBody>
      </p:sp>
      <p:sp>
        <p:nvSpPr>
          <p:cNvPr id="18" name="TextBox 17"/>
          <p:cNvSpPr txBox="1"/>
          <p:nvPr/>
        </p:nvSpPr>
        <p:spPr>
          <a:xfrm>
            <a:off x="822960" y="3246120"/>
            <a:ext cx="10424160" cy="2560320"/>
          </a:xfrm>
          <a:prstGeom prst="rect">
            <a:avLst/>
          </a:prstGeom>
          <a:noFill/>
        </p:spPr>
        <p:txBody>
          <a:bodyPr wrap="square">
            <a:spAutoFit/>
          </a:bodyPr>
          <a:lstStyle/>
          <a:p>
            <a:pPr>
              <a:spcAft>
                <a:spcPts val="1000"/>
              </a:spcAft>
              <a:defRPr sz="1500">
                <a:solidFill>
                  <a:srgbClr val="282C34"/>
                </a:solidFill>
                <a:latin typeface="Aptos"/>
              </a:defRPr>
            </a:pPr>
            <a:r>
              <a:t>• Explore: missing values, distributions and class balance.</a:t>
            </a:r>
          </a:p>
          <a:p>
            <a:pPr>
              <a:spcAft>
                <a:spcPts val="1000"/>
              </a:spcAft>
              <a:defRPr sz="1500">
                <a:solidFill>
                  <a:srgbClr val="282C34"/>
                </a:solidFill>
                <a:latin typeface="Aptos"/>
              </a:defRPr>
            </a:pPr>
            <a:r>
              <a:t>• Prepare: select features and target; split train/test.</a:t>
            </a:r>
          </a:p>
          <a:p>
            <a:pPr>
              <a:spcAft>
                <a:spcPts val="1000"/>
              </a:spcAft>
              <a:defRPr sz="1500">
                <a:solidFill>
                  <a:srgbClr val="282C34"/>
                </a:solidFill>
                <a:latin typeface="Aptos"/>
              </a:defRPr>
            </a:pPr>
            <a:r>
              <a:t>• Train: Logistic Regression or Decision Tree.</a:t>
            </a:r>
          </a:p>
          <a:p>
            <a:pPr>
              <a:spcAft>
                <a:spcPts val="1000"/>
              </a:spcAft>
              <a:defRPr sz="1500">
                <a:solidFill>
                  <a:srgbClr val="282C34"/>
                </a:solidFill>
                <a:latin typeface="Aptos"/>
              </a:defRPr>
            </a:pPr>
            <a:r>
              <a:t>• Evaluate: confusion matrix, precision, recall and accuracy.</a:t>
            </a:r>
          </a:p>
          <a:p>
            <a:pPr>
              <a:spcAft>
                <a:spcPts val="1000"/>
              </a:spcAft>
              <a:defRPr sz="1500">
                <a:solidFill>
                  <a:srgbClr val="282C34"/>
                </a:solidFill>
                <a:latin typeface="Aptos"/>
              </a:defRPr>
            </a:pPr>
            <a:r>
              <a:t>• Explain: which customer patterns are associated with higher predicted churn?</a:t>
            </a:r>
          </a:p>
        </p:txBody>
      </p:sp>
      <p:sp>
        <p:nvSpPr>
          <p:cNvPr id="19" name="TextBox 18"/>
          <p:cNvSpPr txBox="1"/>
          <p:nvPr/>
        </p:nvSpPr>
        <p:spPr>
          <a:xfrm>
            <a:off x="594360" y="6446520"/>
            <a:ext cx="5486400" cy="228600"/>
          </a:xfrm>
          <a:prstGeom prst="rect">
            <a:avLst/>
          </a:prstGeom>
          <a:noFill/>
        </p:spPr>
        <p:txBody>
          <a:bodyPr wrap="square" anchor="ctr">
            <a:spAutoFit/>
          </a:bodyPr>
          <a:lstStyle/>
          <a:p>
            <a:pPr algn="l">
              <a:defRPr sz="800" b="0">
                <a:solidFill>
                  <a:srgbClr val="69707C"/>
                </a:solidFill>
                <a:latin typeface="Aptos"/>
              </a:defRPr>
            </a:pPr>
            <a:r>
              <a:t>AI &amp; Machine Learning • Classroom Deck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1828800" cy="365760"/>
          </a:xfrm>
          <a:prstGeom prst="rect">
            <a:avLst/>
          </a:prstGeom>
          <a:noFill/>
        </p:spPr>
        <p:txBody>
          <a:bodyPr wrap="square" anchor="ctr">
            <a:spAutoFit/>
          </a:bodyPr>
          <a:lstStyle/>
          <a:p>
            <a:pPr algn="l">
              <a:defRPr sz="1200" b="1">
                <a:solidFill>
                  <a:srgbClr val="AACDEE"/>
                </a:solidFill>
                <a:latin typeface="Aptos"/>
              </a:defRPr>
            </a:pPr>
            <a:r>
              <a:t>EXIT TICKET</a:t>
            </a:r>
          </a:p>
        </p:txBody>
      </p:sp>
      <p:sp>
        <p:nvSpPr>
          <p:cNvPr id="4" name="TextBox 3"/>
          <p:cNvSpPr txBox="1"/>
          <p:nvPr/>
        </p:nvSpPr>
        <p:spPr>
          <a:xfrm>
            <a:off x="731520" y="1325880"/>
            <a:ext cx="10515600" cy="822960"/>
          </a:xfrm>
          <a:prstGeom prst="rect">
            <a:avLst/>
          </a:prstGeom>
          <a:noFill/>
        </p:spPr>
        <p:txBody>
          <a:bodyPr wrap="square" anchor="ctr">
            <a:spAutoFit/>
          </a:bodyPr>
          <a:lstStyle/>
          <a:p>
            <a:pPr algn="l">
              <a:defRPr sz="3000" b="1">
                <a:solidFill>
                  <a:srgbClr val="FFFFFF"/>
                </a:solidFill>
                <a:latin typeface="Aptos Display"/>
              </a:defRPr>
            </a:pPr>
            <a:r>
              <a:t>Can you explain AI and ML in your own words?</a:t>
            </a:r>
          </a:p>
        </p:txBody>
      </p:sp>
      <p:sp>
        <p:nvSpPr>
          <p:cNvPr id="5" name="Rounded Rectangle 4"/>
          <p:cNvSpPr/>
          <p:nvPr/>
        </p:nvSpPr>
        <p:spPr>
          <a:xfrm>
            <a:off x="685800" y="2743200"/>
            <a:ext cx="3429000" cy="1051560"/>
          </a:xfrm>
          <a:prstGeom prst="roundRect">
            <a:avLst/>
          </a:prstGeom>
          <a:solidFill>
            <a:srgbClr val="FFFFFF"/>
          </a:solidFill>
          <a:ln w="1524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0392" y="2871216"/>
            <a:ext cx="3099816" cy="365760"/>
          </a:xfrm>
          <a:prstGeom prst="rect">
            <a:avLst/>
          </a:prstGeom>
          <a:noFill/>
        </p:spPr>
        <p:txBody>
          <a:bodyPr wrap="square" anchor="ctr">
            <a:spAutoFit/>
          </a:bodyPr>
          <a:lstStyle/>
          <a:p>
            <a:pPr algn="l">
              <a:defRPr sz="1500" b="1">
                <a:solidFill>
                  <a:srgbClr val="2B6CB0"/>
                </a:solidFill>
                <a:latin typeface="Aptos"/>
              </a:defRPr>
            </a:pPr>
            <a:r>
              <a:t>AI</a:t>
            </a:r>
          </a:p>
        </p:txBody>
      </p:sp>
      <p:sp>
        <p:nvSpPr>
          <p:cNvPr id="7" name="TextBox 6"/>
          <p:cNvSpPr txBox="1"/>
          <p:nvPr/>
        </p:nvSpPr>
        <p:spPr>
          <a:xfrm>
            <a:off x="850392" y="3310128"/>
            <a:ext cx="3099816" cy="338327"/>
          </a:xfrm>
          <a:prstGeom prst="rect">
            <a:avLst/>
          </a:prstGeom>
          <a:noFill/>
        </p:spPr>
        <p:txBody>
          <a:bodyPr wrap="square" anchor="ctr">
            <a:spAutoFit/>
          </a:bodyPr>
          <a:lstStyle/>
          <a:p>
            <a:pPr algn="l">
              <a:defRPr sz="1100" b="0">
                <a:solidFill>
                  <a:srgbClr val="282C34"/>
                </a:solidFill>
                <a:latin typeface="Aptos"/>
              </a:defRPr>
            </a:pPr>
            <a:r>
              <a:t>Broad field of intelligent systems</a:t>
            </a:r>
          </a:p>
        </p:txBody>
      </p:sp>
      <p:sp>
        <p:nvSpPr>
          <p:cNvPr id="8" name="Rounded Rectangle 7"/>
          <p:cNvSpPr/>
          <p:nvPr/>
        </p:nvSpPr>
        <p:spPr>
          <a:xfrm>
            <a:off x="4480560" y="2743200"/>
            <a:ext cx="3429000" cy="1051560"/>
          </a:xfrm>
          <a:prstGeom prst="roundRect">
            <a:avLst/>
          </a:prstGeom>
          <a:solidFill>
            <a:srgbClr val="FFFFFF"/>
          </a:solidFill>
          <a:ln w="15240">
            <a:solidFill>
              <a:srgbClr val="2089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45152" y="2871216"/>
            <a:ext cx="3099816" cy="365760"/>
          </a:xfrm>
          <a:prstGeom prst="rect">
            <a:avLst/>
          </a:prstGeom>
          <a:noFill/>
        </p:spPr>
        <p:txBody>
          <a:bodyPr wrap="square" anchor="ctr">
            <a:spAutoFit/>
          </a:bodyPr>
          <a:lstStyle/>
          <a:p>
            <a:pPr algn="l">
              <a:defRPr sz="1500" b="1">
                <a:solidFill>
                  <a:srgbClr val="208984"/>
                </a:solidFill>
                <a:latin typeface="Aptos"/>
              </a:defRPr>
            </a:pPr>
            <a:r>
              <a:t>ML</a:t>
            </a:r>
          </a:p>
        </p:txBody>
      </p:sp>
      <p:sp>
        <p:nvSpPr>
          <p:cNvPr id="10" name="TextBox 9"/>
          <p:cNvSpPr txBox="1"/>
          <p:nvPr/>
        </p:nvSpPr>
        <p:spPr>
          <a:xfrm>
            <a:off x="4645152" y="3310128"/>
            <a:ext cx="3099816" cy="338327"/>
          </a:xfrm>
          <a:prstGeom prst="rect">
            <a:avLst/>
          </a:prstGeom>
          <a:noFill/>
        </p:spPr>
        <p:txBody>
          <a:bodyPr wrap="square" anchor="ctr">
            <a:spAutoFit/>
          </a:bodyPr>
          <a:lstStyle/>
          <a:p>
            <a:pPr algn="l">
              <a:defRPr sz="1100" b="0">
                <a:solidFill>
                  <a:srgbClr val="282C34"/>
                </a:solidFill>
                <a:latin typeface="Aptos"/>
              </a:defRPr>
            </a:pPr>
            <a:r>
              <a:t>Learns patterns from data</a:t>
            </a:r>
          </a:p>
        </p:txBody>
      </p:sp>
      <p:sp>
        <p:nvSpPr>
          <p:cNvPr id="11" name="Rounded Rectangle 10"/>
          <p:cNvSpPr/>
          <p:nvPr/>
        </p:nvSpPr>
        <p:spPr>
          <a:xfrm>
            <a:off x="8275320" y="2743200"/>
            <a:ext cx="3429000" cy="1051560"/>
          </a:xfrm>
          <a:prstGeom prst="roundRect">
            <a:avLst/>
          </a:prstGeom>
          <a:solidFill>
            <a:srgbClr val="FFFFFF"/>
          </a:solidFill>
          <a:ln w="15240">
            <a:solidFill>
              <a:srgbClr val="715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39912" y="2871216"/>
            <a:ext cx="3099816" cy="365760"/>
          </a:xfrm>
          <a:prstGeom prst="rect">
            <a:avLst/>
          </a:prstGeom>
          <a:noFill/>
        </p:spPr>
        <p:txBody>
          <a:bodyPr wrap="square" anchor="ctr">
            <a:spAutoFit/>
          </a:bodyPr>
          <a:lstStyle/>
          <a:p>
            <a:pPr algn="l">
              <a:defRPr sz="1500" b="1">
                <a:solidFill>
                  <a:srgbClr val="7153A8"/>
                </a:solidFill>
                <a:latin typeface="Aptos"/>
              </a:defRPr>
            </a:pPr>
            <a:r>
              <a:t>Supervised</a:t>
            </a:r>
          </a:p>
        </p:txBody>
      </p:sp>
      <p:sp>
        <p:nvSpPr>
          <p:cNvPr id="13" name="TextBox 12"/>
          <p:cNvSpPr txBox="1"/>
          <p:nvPr/>
        </p:nvSpPr>
        <p:spPr>
          <a:xfrm>
            <a:off x="8439912" y="3310128"/>
            <a:ext cx="3099816" cy="338327"/>
          </a:xfrm>
          <a:prstGeom prst="rect">
            <a:avLst/>
          </a:prstGeom>
          <a:noFill/>
        </p:spPr>
        <p:txBody>
          <a:bodyPr wrap="square" anchor="ctr">
            <a:spAutoFit/>
          </a:bodyPr>
          <a:lstStyle/>
          <a:p>
            <a:pPr algn="l">
              <a:defRPr sz="1100" b="0">
                <a:solidFill>
                  <a:srgbClr val="282C34"/>
                </a:solidFill>
                <a:latin typeface="Aptos"/>
              </a:defRPr>
            </a:pPr>
            <a:r>
              <a:t>Learns from labeled examples</a:t>
            </a:r>
          </a:p>
        </p:txBody>
      </p:sp>
      <p:sp>
        <p:nvSpPr>
          <p:cNvPr id="14" name="Rounded Rectangle 13"/>
          <p:cNvSpPr/>
          <p:nvPr/>
        </p:nvSpPr>
        <p:spPr>
          <a:xfrm>
            <a:off x="685800" y="4069080"/>
            <a:ext cx="3429000" cy="1051560"/>
          </a:xfrm>
          <a:prstGeom prst="roundRect">
            <a:avLst/>
          </a:prstGeom>
          <a:solidFill>
            <a:srgbClr val="FFFFFF"/>
          </a:solidFill>
          <a:ln w="15240">
            <a:solidFill>
              <a:srgbClr val="E28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4197096"/>
            <a:ext cx="3099816" cy="365760"/>
          </a:xfrm>
          <a:prstGeom prst="rect">
            <a:avLst/>
          </a:prstGeom>
          <a:noFill/>
        </p:spPr>
        <p:txBody>
          <a:bodyPr wrap="square" anchor="ctr">
            <a:spAutoFit/>
          </a:bodyPr>
          <a:lstStyle/>
          <a:p>
            <a:pPr algn="l">
              <a:defRPr sz="1500" b="1">
                <a:solidFill>
                  <a:srgbClr val="E28431"/>
                </a:solidFill>
                <a:latin typeface="Aptos"/>
              </a:defRPr>
            </a:pPr>
            <a:r>
              <a:t>Classification</a:t>
            </a:r>
          </a:p>
        </p:txBody>
      </p:sp>
      <p:sp>
        <p:nvSpPr>
          <p:cNvPr id="16" name="TextBox 15"/>
          <p:cNvSpPr txBox="1"/>
          <p:nvPr/>
        </p:nvSpPr>
        <p:spPr>
          <a:xfrm>
            <a:off x="850392" y="4636008"/>
            <a:ext cx="3099816" cy="338327"/>
          </a:xfrm>
          <a:prstGeom prst="rect">
            <a:avLst/>
          </a:prstGeom>
          <a:noFill/>
        </p:spPr>
        <p:txBody>
          <a:bodyPr wrap="square" anchor="ctr">
            <a:spAutoFit/>
          </a:bodyPr>
          <a:lstStyle/>
          <a:p>
            <a:pPr algn="l">
              <a:defRPr sz="1100" b="0">
                <a:solidFill>
                  <a:srgbClr val="282C34"/>
                </a:solidFill>
                <a:latin typeface="Aptos"/>
              </a:defRPr>
            </a:pPr>
            <a:r>
              <a:t>Predicts a class</a:t>
            </a:r>
          </a:p>
        </p:txBody>
      </p:sp>
      <p:sp>
        <p:nvSpPr>
          <p:cNvPr id="17" name="Rounded Rectangle 16"/>
          <p:cNvSpPr/>
          <p:nvPr/>
        </p:nvSpPr>
        <p:spPr>
          <a:xfrm>
            <a:off x="4480560" y="4069080"/>
            <a:ext cx="3429000" cy="1051560"/>
          </a:xfrm>
          <a:prstGeom prst="roundRect">
            <a:avLst/>
          </a:prstGeom>
          <a:solidFill>
            <a:srgbClr val="FFFFFF"/>
          </a:solidFill>
          <a:ln w="15240">
            <a:solidFill>
              <a:srgbClr val="378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45152" y="4197096"/>
            <a:ext cx="3099816" cy="365760"/>
          </a:xfrm>
          <a:prstGeom prst="rect">
            <a:avLst/>
          </a:prstGeom>
          <a:noFill/>
        </p:spPr>
        <p:txBody>
          <a:bodyPr wrap="square" anchor="ctr">
            <a:spAutoFit/>
          </a:bodyPr>
          <a:lstStyle/>
          <a:p>
            <a:pPr algn="l">
              <a:defRPr sz="1500" b="1">
                <a:solidFill>
                  <a:srgbClr val="37895B"/>
                </a:solidFill>
                <a:latin typeface="Aptos"/>
              </a:defRPr>
            </a:pPr>
            <a:r>
              <a:t>Regression</a:t>
            </a:r>
          </a:p>
        </p:txBody>
      </p:sp>
      <p:sp>
        <p:nvSpPr>
          <p:cNvPr id="19" name="TextBox 18"/>
          <p:cNvSpPr txBox="1"/>
          <p:nvPr/>
        </p:nvSpPr>
        <p:spPr>
          <a:xfrm>
            <a:off x="4645152" y="4636008"/>
            <a:ext cx="3099816" cy="338327"/>
          </a:xfrm>
          <a:prstGeom prst="rect">
            <a:avLst/>
          </a:prstGeom>
          <a:noFill/>
        </p:spPr>
        <p:txBody>
          <a:bodyPr wrap="square" anchor="ctr">
            <a:spAutoFit/>
          </a:bodyPr>
          <a:lstStyle/>
          <a:p>
            <a:pPr algn="l">
              <a:defRPr sz="1100" b="0">
                <a:solidFill>
                  <a:srgbClr val="282C34"/>
                </a:solidFill>
                <a:latin typeface="Aptos"/>
              </a:defRPr>
            </a:pPr>
            <a:r>
              <a:t>Predicts a number</a:t>
            </a:r>
          </a:p>
        </p:txBody>
      </p:sp>
      <p:sp>
        <p:nvSpPr>
          <p:cNvPr id="20" name="Rounded Rectangle 19"/>
          <p:cNvSpPr/>
          <p:nvPr/>
        </p:nvSpPr>
        <p:spPr>
          <a:xfrm>
            <a:off x="8275320" y="4069080"/>
            <a:ext cx="3429000" cy="1051560"/>
          </a:xfrm>
          <a:prstGeom prst="roundRect">
            <a:avLst/>
          </a:prstGeom>
          <a:solidFill>
            <a:srgbClr val="FFFFFF"/>
          </a:solidFill>
          <a:ln w="1524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9912" y="4197096"/>
            <a:ext cx="3099816" cy="365760"/>
          </a:xfrm>
          <a:prstGeom prst="rect">
            <a:avLst/>
          </a:prstGeom>
          <a:noFill/>
        </p:spPr>
        <p:txBody>
          <a:bodyPr wrap="square" anchor="ctr">
            <a:spAutoFit/>
          </a:bodyPr>
          <a:lstStyle/>
          <a:p>
            <a:pPr algn="l">
              <a:defRPr sz="1500" b="1">
                <a:solidFill>
                  <a:srgbClr val="2B6CB0"/>
                </a:solidFill>
                <a:latin typeface="Aptos"/>
              </a:defRPr>
            </a:pPr>
            <a:r>
              <a:t>Workflow</a:t>
            </a:r>
          </a:p>
        </p:txBody>
      </p:sp>
      <p:sp>
        <p:nvSpPr>
          <p:cNvPr id="22" name="TextBox 21"/>
          <p:cNvSpPr txBox="1"/>
          <p:nvPr/>
        </p:nvSpPr>
        <p:spPr>
          <a:xfrm>
            <a:off x="8439912" y="4636008"/>
            <a:ext cx="3099816" cy="338327"/>
          </a:xfrm>
          <a:prstGeom prst="rect">
            <a:avLst/>
          </a:prstGeom>
          <a:noFill/>
        </p:spPr>
        <p:txBody>
          <a:bodyPr wrap="square" anchor="ctr">
            <a:spAutoFit/>
          </a:bodyPr>
          <a:lstStyle/>
          <a:p>
            <a:pPr algn="l">
              <a:defRPr sz="1100" b="0">
                <a:solidFill>
                  <a:srgbClr val="282C34"/>
                </a:solidFill>
                <a:latin typeface="Aptos"/>
              </a:defRPr>
            </a:pPr>
            <a:r>
              <a:t>Problem → Data → Model → Evaluation</a:t>
            </a:r>
          </a:p>
        </p:txBody>
      </p:sp>
      <p:sp>
        <p:nvSpPr>
          <p:cNvPr id="23" name="TextBox 22"/>
          <p:cNvSpPr txBox="1"/>
          <p:nvPr/>
        </p:nvSpPr>
        <p:spPr>
          <a:xfrm>
            <a:off x="822960" y="5715000"/>
            <a:ext cx="10424160" cy="502920"/>
          </a:xfrm>
          <a:prstGeom prst="rect">
            <a:avLst/>
          </a:prstGeom>
          <a:noFill/>
        </p:spPr>
        <p:txBody>
          <a:bodyPr wrap="square" anchor="ctr">
            <a:spAutoFit/>
          </a:bodyPr>
          <a:lstStyle/>
          <a:p>
            <a:pPr algn="ctr">
              <a:defRPr sz="1500" b="1">
                <a:solidFill>
                  <a:srgbClr val="DCE4F0"/>
                </a:solidFill>
                <a:latin typeface="Aptos"/>
              </a:defRPr>
            </a:pPr>
            <a:r>
              <a:t>Final prompt: Give one AI/ML example from your daily life and identify the ML problem type.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